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656979-B2DA-4B3C-9419-ED4B80D9D73D}">
          <p14:sldIdLst>
            <p14:sldId id="256"/>
          </p14:sldIdLst>
        </p14:section>
        <p14:section name="Untitled Section" id="{F493B342-A998-46CE-AD69-D3E43ACF6871}">
          <p14:sldIdLst>
            <p14:sldId id="257"/>
            <p14:sldId id="258"/>
            <p14:sldId id="259"/>
            <p14:sldId id="260"/>
            <p14:sldId id="261"/>
            <p14:sldId id="262"/>
            <p14:sldId id="263"/>
            <p14:sldId id="264"/>
            <p14:sldId id="265"/>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6" autoAdjust="0"/>
    <p:restoredTop sz="93969" autoAdjust="0"/>
  </p:normalViewPr>
  <p:slideViewPr>
    <p:cSldViewPr snapToGrid="0">
      <p:cViewPr varScale="1">
        <p:scale>
          <a:sx n="64" d="100"/>
          <a:sy n="64" d="100"/>
        </p:scale>
        <p:origin x="966" y="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CA11-6C7C-A3EA-F59F-3B5A3D8ADB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F7A78C6B-9122-55C8-D761-3220FD4AE4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64B7E74-82BB-7FFD-7F15-632731149B84}"/>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0C12E19D-60BA-2008-5006-72AAEFA1D4E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5C9B53C-7AB9-239B-F323-2D0C4AEB4B9E}"/>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268907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9000-83A5-1E2A-0F08-A0E5AAADB09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C962A10-B8E7-164E-F1CA-6F18CF276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38A341A-2174-13AA-5625-5692A7446B27}"/>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699671C1-A861-5A87-B427-B623190FD8C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61DF7A3-FC09-7F1C-EACD-9E41B5C8065F}"/>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043642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0324-8CED-0CF4-A56B-00CDB55E0D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3BA6936-C72D-A69C-3FB7-CBDF540AF1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A4E57E-4623-AC10-996C-E26AC5D22473}"/>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6FA42778-8598-EA19-2165-0FD88221F45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7363AD8-90F2-0C11-A692-32C12880FB3C}"/>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10358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E351D-9C12-C9CF-8410-D961B9438B7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0971F4A-87DB-13EF-2B21-F1B9D580DF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36AA130-3DA1-ACD9-8BD7-036B3952EF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A66A414-B041-997D-39F2-D9B03BE52327}"/>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6" name="Footer Placeholder 5">
            <a:extLst>
              <a:ext uri="{FF2B5EF4-FFF2-40B4-BE49-F238E27FC236}">
                <a16:creationId xmlns:a16="http://schemas.microsoft.com/office/drawing/2014/main" id="{22330E82-2CC7-FDF9-A8B4-A8264F26A36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5BCE3A3-0198-1A41-CF91-7E7D2D744692}"/>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512569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2758-AF33-0271-AAE4-85539A7D5D63}"/>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7EE9244-A575-A1E2-316C-F2F851A88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135F1B-BC11-4437-51C8-919E66D9B9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ADC35DAE-57F0-3360-D9C0-7C62F99D58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2E8A48-F1AA-532E-9C68-BAF5A10AB0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37E4123-530B-F119-EEF3-3C7D0C9376E4}"/>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8" name="Footer Placeholder 7">
            <a:extLst>
              <a:ext uri="{FF2B5EF4-FFF2-40B4-BE49-F238E27FC236}">
                <a16:creationId xmlns:a16="http://schemas.microsoft.com/office/drawing/2014/main" id="{3076D005-6CE2-D288-17ED-78AC2C72CA4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5664345-7863-2438-4C6D-FE8BCED37D81}"/>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66853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D852-6DFA-3164-1FEB-C8261F2EC16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70BF65E-3331-9873-C818-EEC62F423425}"/>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4" name="Footer Placeholder 3">
            <a:extLst>
              <a:ext uri="{FF2B5EF4-FFF2-40B4-BE49-F238E27FC236}">
                <a16:creationId xmlns:a16="http://schemas.microsoft.com/office/drawing/2014/main" id="{8EF77C9B-29AA-C3F5-1157-E83A4E978B1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D470D29B-062D-AB31-B334-402AE8EA53F0}"/>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376006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5AED6-CCA7-BDE8-7EBE-0ABFF8D14ACF}"/>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3" name="Footer Placeholder 2">
            <a:extLst>
              <a:ext uri="{FF2B5EF4-FFF2-40B4-BE49-F238E27FC236}">
                <a16:creationId xmlns:a16="http://schemas.microsoft.com/office/drawing/2014/main" id="{B512BDD4-7914-45CF-5276-8615DE4373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DCB37EB-73BB-667F-452F-4295730D1231}"/>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41059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D3084-B3B6-25E5-E35D-2B7A4473C4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69EA626-F14F-39F7-16FC-9DF0F1DCBB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62D17507-0CF9-038F-BBD9-CA7D8A0EF7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91A52-A965-6F0E-A58D-64560836180C}"/>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6" name="Footer Placeholder 5">
            <a:extLst>
              <a:ext uri="{FF2B5EF4-FFF2-40B4-BE49-F238E27FC236}">
                <a16:creationId xmlns:a16="http://schemas.microsoft.com/office/drawing/2014/main" id="{9BC2A805-673B-5C10-31CF-919AFCE74FA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27181F3-00D5-5D56-0890-D42342171B2F}"/>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040096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266B-1CE9-B298-FB99-D03977FCAF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66A34CA1-D596-E69F-6F7B-417F3AEA06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2F67C777-D06D-0950-4944-5FAF1A488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C6913-CF9F-F4A6-D111-CE839C89C7EB}"/>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6" name="Footer Placeholder 5">
            <a:extLst>
              <a:ext uri="{FF2B5EF4-FFF2-40B4-BE49-F238E27FC236}">
                <a16:creationId xmlns:a16="http://schemas.microsoft.com/office/drawing/2014/main" id="{DEAB1F63-AAB6-EF59-F74A-C8E62EA3203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D0C4E31-FE4E-496D-09EB-14ACC4B6B3CC}"/>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71166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BAE26-3C91-1D19-E69F-3D89087177A4}"/>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9F1DA73-5A4F-19FA-7898-093809E89B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89B1F45-AC47-93FD-E762-74462BBA36F6}"/>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31F3CFC9-1BF0-96EB-188B-2A6FC3D42A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D3158F0-C05A-C3F6-B87E-1EEBA38F905D}"/>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68673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AA345-D6F3-EAF6-51E5-B951FB6020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1B231E3-9D37-57E6-93A3-BFAAB62F5E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5FD3B30-DB09-F676-03F4-4E0D2E9ED2DE}"/>
              </a:ext>
            </a:extLst>
          </p:cNvPr>
          <p:cNvSpPr>
            <a:spLocks noGrp="1"/>
          </p:cNvSpPr>
          <p:nvPr>
            <p:ph type="dt" sz="half" idx="10"/>
          </p:nvPr>
        </p:nvSpPr>
        <p:spPr/>
        <p:txBody>
          <a:body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B18496ED-F295-B1A6-CAE2-BF8933E74C8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78B47BC-5BC3-BCAD-1F77-8DBD6D82EFBA}"/>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6906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23CE09-984E-012A-7C4C-79058F1D90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1084DA2-3A7E-1EC0-4E28-9CECE7BE5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12D0C43-C7FE-1AE8-1CD1-024C3B0799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8D6702-0561-4FFA-AF10-D94146A8AE43}" type="datetimeFigureOut">
              <a:rPr lang="en-ZA" smtClean="0"/>
              <a:t>2025/04/30</a:t>
            </a:fld>
            <a:endParaRPr lang="en-ZA"/>
          </a:p>
        </p:txBody>
      </p:sp>
      <p:sp>
        <p:nvSpPr>
          <p:cNvPr id="5" name="Footer Placeholder 4">
            <a:extLst>
              <a:ext uri="{FF2B5EF4-FFF2-40B4-BE49-F238E27FC236}">
                <a16:creationId xmlns:a16="http://schemas.microsoft.com/office/drawing/2014/main" id="{28C2BDD0-893E-1C26-8350-55C7CBF88B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03A5919E-C462-7F8A-9E2E-799E6A977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7EFF3B-A17A-4731-AAE0-3FABDFE9EEBF}" type="slidenum">
              <a:rPr lang="en-ZA" smtClean="0"/>
              <a:t>‹#›</a:t>
            </a:fld>
            <a:endParaRPr lang="en-ZA"/>
          </a:p>
        </p:txBody>
      </p:sp>
    </p:spTree>
    <p:extLst>
      <p:ext uri="{BB962C8B-B14F-4D97-AF65-F5344CB8AC3E}">
        <p14:creationId xmlns:p14="http://schemas.microsoft.com/office/powerpoint/2010/main" val="100811009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file:///C:\Users\alexa\OneDrive\Documents\EDAB2714\Assignment%203\Sankey.html" TargetMode="Externa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487C6CDF-1C93-1D82-8B56-519C827F9D54}"/>
              </a:ext>
            </a:extLst>
          </p:cNvPr>
          <p:cNvGraphicFramePr>
            <a:graphicFrameLocks noChangeAspect="1"/>
          </p:cNvGraphicFramePr>
          <p:nvPr>
            <p:extLst>
              <p:ext uri="{D42A27DB-BD31-4B8C-83A1-F6EECF244321}">
                <p14:modId xmlns:p14="http://schemas.microsoft.com/office/powerpoint/2010/main" val="3046184446"/>
              </p:ext>
            </p:extLst>
          </p:nvPr>
        </p:nvGraphicFramePr>
        <p:xfrm>
          <a:off x="6086475" y="3417888"/>
          <a:ext cx="19050" cy="19050"/>
        </p:xfrm>
        <a:graphic>
          <a:graphicData uri="http://schemas.openxmlformats.org/presentationml/2006/ole">
            <mc:AlternateContent xmlns:mc="http://schemas.openxmlformats.org/markup-compatibility/2006">
              <mc:Choice xmlns:v="urn:schemas-microsoft-com:vml" Requires="v">
                <p:oleObj name="HTML Document" r:id="rId2" imgW="0" imgH="0" progId="htmlfile">
                  <p:link updateAutomatic="1"/>
                </p:oleObj>
              </mc:Choice>
              <mc:Fallback>
                <p:oleObj name="HTML Document" r:id="rId2" imgW="0" imgH="0" progId="htmlfile">
                  <p:link updateAutomatic="1"/>
                  <p:pic>
                    <p:nvPicPr>
                      <p:cNvPr id="0" name=""/>
                      <p:cNvPicPr/>
                      <p:nvPr/>
                    </p:nvPicPr>
                    <p:blipFill>
                      <a:blip r:embed="rId3"/>
                      <a:stretch>
                        <a:fillRect/>
                      </a:stretch>
                    </p:blipFill>
                    <p:spPr>
                      <a:xfrm>
                        <a:off x="6086475" y="3417888"/>
                        <a:ext cx="19050" cy="19050"/>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A2DEF169-31F0-376B-B308-4831A3710400}"/>
              </a:ext>
            </a:extLst>
          </p:cNvPr>
          <p:cNvSpPr/>
          <p:nvPr/>
        </p:nvSpPr>
        <p:spPr>
          <a:xfrm>
            <a:off x="239842" y="176082"/>
            <a:ext cx="11617377" cy="41372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EDAB2714 – Assignment 3</a:t>
            </a:r>
          </a:p>
          <a:p>
            <a:pPr algn="ctr"/>
            <a:endParaRPr lang="en-ZA" sz="3600" b="1" dirty="0"/>
          </a:p>
          <a:p>
            <a:pPr algn="ctr"/>
            <a:r>
              <a:rPr lang="en-ZA" sz="3600" b="1" dirty="0"/>
              <a:t>Alexander Leak</a:t>
            </a:r>
          </a:p>
          <a:p>
            <a:pPr algn="ctr"/>
            <a:endParaRPr lang="en-ZA" sz="3600" b="1" dirty="0"/>
          </a:p>
          <a:p>
            <a:pPr algn="ctr"/>
            <a:r>
              <a:rPr lang="en-ZA" sz="3600" b="1" dirty="0"/>
              <a:t>2024404382</a:t>
            </a:r>
          </a:p>
        </p:txBody>
      </p:sp>
      <p:pic>
        <p:nvPicPr>
          <p:cNvPr id="10" name="Graphic 9">
            <a:extLst>
              <a:ext uri="{FF2B5EF4-FFF2-40B4-BE49-F238E27FC236}">
                <a16:creationId xmlns:a16="http://schemas.microsoft.com/office/drawing/2014/main" id="{5FE88699-B9C9-DC2C-F0F7-969B10C190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55436" y="4613275"/>
            <a:ext cx="4901783" cy="1655762"/>
          </a:xfrm>
          <a:prstGeom prst="rect">
            <a:avLst/>
          </a:prstGeom>
        </p:spPr>
      </p:pic>
    </p:spTree>
    <p:extLst>
      <p:ext uri="{BB962C8B-B14F-4D97-AF65-F5344CB8AC3E}">
        <p14:creationId xmlns:p14="http://schemas.microsoft.com/office/powerpoint/2010/main" val="3081488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CBECC08-5290-320E-1912-928AEF92A22D}"/>
              </a:ext>
            </a:extLst>
          </p:cNvPr>
          <p:cNvSpPr/>
          <p:nvPr/>
        </p:nvSpPr>
        <p:spPr>
          <a:xfrm>
            <a:off x="239842" y="176082"/>
            <a:ext cx="11617377" cy="103812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Overview of the Original Dataset</a:t>
            </a:r>
          </a:p>
        </p:txBody>
      </p:sp>
      <p:sp>
        <p:nvSpPr>
          <p:cNvPr id="6" name="Rectangle: Rounded Corners 5">
            <a:extLst>
              <a:ext uri="{FF2B5EF4-FFF2-40B4-BE49-F238E27FC236}">
                <a16:creationId xmlns:a16="http://schemas.microsoft.com/office/drawing/2014/main" id="{00477685-EDF6-49D3-1FFE-E7446A62D6EB}"/>
              </a:ext>
            </a:extLst>
          </p:cNvPr>
          <p:cNvSpPr/>
          <p:nvPr/>
        </p:nvSpPr>
        <p:spPr>
          <a:xfrm>
            <a:off x="389744" y="1394085"/>
            <a:ext cx="4811843" cy="491677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b="1" dirty="0">
              <a:solidFill>
                <a:srgbClr val="FF0000"/>
              </a:solidFill>
            </a:endParaRPr>
          </a:p>
          <a:p>
            <a:pPr algn="ctr"/>
            <a:r>
              <a:rPr lang="en-ZA" b="1" dirty="0"/>
              <a:t>What its about</a:t>
            </a:r>
          </a:p>
          <a:p>
            <a:pPr algn="ctr"/>
            <a:endParaRPr lang="en-ZA" b="1" dirty="0"/>
          </a:p>
          <a:p>
            <a:pPr algn="ctr"/>
            <a:r>
              <a:rPr lang="en-ZA" dirty="0"/>
              <a:t>The Soweto Subsistence dataset is a study on what determines purchase intention for a specific grocery store.</a:t>
            </a:r>
          </a:p>
          <a:p>
            <a:pPr algn="ctr"/>
            <a:endParaRPr lang="en-ZA" dirty="0"/>
          </a:p>
          <a:p>
            <a:r>
              <a:rPr lang="en-ZA" dirty="0"/>
              <a:t>To determine Purchase Intention questions were asked in the categories:</a:t>
            </a:r>
          </a:p>
          <a:p>
            <a:pPr marL="285750" indent="-285750">
              <a:buFont typeface="Arial" panose="020B0604020202020204" pitchFamily="34" charset="0"/>
              <a:buChar char="•"/>
            </a:pPr>
            <a:r>
              <a:rPr lang="en-ZA" dirty="0"/>
              <a:t>Empathy</a:t>
            </a:r>
          </a:p>
          <a:p>
            <a:pPr marL="285750" indent="-285750">
              <a:buFont typeface="Arial" panose="020B0604020202020204" pitchFamily="34" charset="0"/>
              <a:buChar char="•"/>
            </a:pPr>
            <a:r>
              <a:rPr lang="en-ZA" dirty="0"/>
              <a:t>Convenience</a:t>
            </a:r>
          </a:p>
          <a:p>
            <a:pPr marL="285750" indent="-285750">
              <a:buFont typeface="Arial" panose="020B0604020202020204" pitchFamily="34" charset="0"/>
              <a:buChar char="•"/>
            </a:pPr>
            <a:r>
              <a:rPr lang="en-ZA" dirty="0"/>
              <a:t>Price Sensitivity</a:t>
            </a:r>
          </a:p>
          <a:p>
            <a:pPr marL="285750" indent="-285750">
              <a:buFont typeface="Arial" panose="020B0604020202020204" pitchFamily="34" charset="0"/>
              <a:buChar char="•"/>
            </a:pPr>
            <a:r>
              <a:rPr lang="en-ZA" dirty="0"/>
              <a:t>Environment</a:t>
            </a:r>
          </a:p>
          <a:p>
            <a:pPr marL="285750" indent="-285750">
              <a:buFont typeface="Arial" panose="020B0604020202020204" pitchFamily="34" charset="0"/>
              <a:buChar char="•"/>
            </a:pPr>
            <a:r>
              <a:rPr lang="en-ZA" dirty="0"/>
              <a:t>Quality</a:t>
            </a:r>
          </a:p>
          <a:p>
            <a:pPr marL="285750" indent="-285750">
              <a:buFont typeface="Arial" panose="020B0604020202020204" pitchFamily="34" charset="0"/>
              <a:buChar char="•"/>
            </a:pPr>
            <a:r>
              <a:rPr lang="en-ZA" dirty="0"/>
              <a:t>Trust</a:t>
            </a:r>
          </a:p>
          <a:p>
            <a:pPr marL="285750" indent="-285750">
              <a:buFont typeface="Arial" panose="020B0604020202020204" pitchFamily="34" charset="0"/>
              <a:buChar char="•"/>
            </a:pPr>
            <a:r>
              <a:rPr lang="en-ZA" dirty="0"/>
              <a:t>Value</a:t>
            </a:r>
          </a:p>
        </p:txBody>
      </p:sp>
      <p:sp>
        <p:nvSpPr>
          <p:cNvPr id="8" name="TextBox 7">
            <a:extLst>
              <a:ext uri="{FF2B5EF4-FFF2-40B4-BE49-F238E27FC236}">
                <a16:creationId xmlns:a16="http://schemas.microsoft.com/office/drawing/2014/main" id="{EA535B39-2A7E-746E-13EB-EA6E3BFE6F3C}"/>
              </a:ext>
            </a:extLst>
          </p:cNvPr>
          <p:cNvSpPr txBox="1"/>
          <p:nvPr/>
        </p:nvSpPr>
        <p:spPr>
          <a:xfrm>
            <a:off x="5737173" y="1394085"/>
            <a:ext cx="6160957" cy="923330"/>
          </a:xfrm>
          <a:prstGeom prst="rect">
            <a:avLst/>
          </a:prstGeom>
          <a:noFill/>
        </p:spPr>
        <p:txBody>
          <a:bodyPr wrap="square" rtlCol="0">
            <a:spAutoFit/>
          </a:bodyPr>
          <a:lstStyle/>
          <a:p>
            <a:pPr algn="ctr"/>
            <a:r>
              <a:rPr lang="en-ZA" b="1" dirty="0"/>
              <a:t>A Brief Description of Features</a:t>
            </a:r>
          </a:p>
          <a:p>
            <a:pPr algn="ctr"/>
            <a:endParaRPr lang="en-ZA" b="1" dirty="0"/>
          </a:p>
          <a:p>
            <a:endParaRPr lang="en-ZA" b="1" dirty="0"/>
          </a:p>
        </p:txBody>
      </p:sp>
      <p:sp>
        <p:nvSpPr>
          <p:cNvPr id="10" name="TextBox 9">
            <a:extLst>
              <a:ext uri="{FF2B5EF4-FFF2-40B4-BE49-F238E27FC236}">
                <a16:creationId xmlns:a16="http://schemas.microsoft.com/office/drawing/2014/main" id="{C9C3FF84-7D2F-9A6B-0284-E5BE9B380826}"/>
              </a:ext>
            </a:extLst>
          </p:cNvPr>
          <p:cNvSpPr txBox="1"/>
          <p:nvPr/>
        </p:nvSpPr>
        <p:spPr>
          <a:xfrm>
            <a:off x="5638644" y="1855750"/>
            <a:ext cx="2158584" cy="2862322"/>
          </a:xfrm>
          <a:prstGeom prst="rect">
            <a:avLst/>
          </a:prstGeom>
          <a:noFill/>
        </p:spPr>
        <p:txBody>
          <a:bodyPr wrap="square" rtlCol="0">
            <a:spAutoFit/>
          </a:bodyPr>
          <a:lstStyle/>
          <a:p>
            <a:r>
              <a:rPr lang="en-ZA" b="1" dirty="0"/>
              <a:t>Personal Information</a:t>
            </a:r>
          </a:p>
          <a:p>
            <a:endParaRPr lang="en-ZA" dirty="0"/>
          </a:p>
          <a:p>
            <a:r>
              <a:rPr lang="en-ZA" dirty="0"/>
              <a:t>Variables like </a:t>
            </a:r>
          </a:p>
          <a:p>
            <a:pPr marL="285750" indent="-285750">
              <a:buFont typeface="Arial" panose="020B0604020202020204" pitchFamily="34" charset="0"/>
              <a:buChar char="•"/>
            </a:pPr>
            <a:r>
              <a:rPr lang="en-ZA" dirty="0"/>
              <a:t>Age</a:t>
            </a:r>
          </a:p>
          <a:p>
            <a:pPr marL="285750" indent="-285750">
              <a:buFont typeface="Arial" panose="020B0604020202020204" pitchFamily="34" charset="0"/>
              <a:buChar char="•"/>
            </a:pPr>
            <a:r>
              <a:rPr lang="en-ZA" dirty="0"/>
              <a:t>Gender</a:t>
            </a:r>
          </a:p>
          <a:p>
            <a:pPr marL="285750" indent="-285750">
              <a:buFont typeface="Arial" panose="020B0604020202020204" pitchFamily="34" charset="0"/>
              <a:buChar char="•"/>
            </a:pPr>
            <a:r>
              <a:rPr lang="en-ZA" dirty="0"/>
              <a:t> Employment Status </a:t>
            </a:r>
          </a:p>
          <a:p>
            <a:pPr marL="285750" indent="-285750">
              <a:buFont typeface="Arial" panose="020B0604020202020204" pitchFamily="34" charset="0"/>
              <a:buChar char="•"/>
            </a:pPr>
            <a:r>
              <a:rPr lang="en-ZA" dirty="0"/>
              <a:t>Education Level</a:t>
            </a:r>
          </a:p>
          <a:p>
            <a:r>
              <a:rPr lang="en-ZA" dirty="0"/>
              <a:t> were prompted</a:t>
            </a:r>
          </a:p>
        </p:txBody>
      </p:sp>
      <p:sp>
        <p:nvSpPr>
          <p:cNvPr id="11" name="TextBox 10">
            <a:extLst>
              <a:ext uri="{FF2B5EF4-FFF2-40B4-BE49-F238E27FC236}">
                <a16:creationId xmlns:a16="http://schemas.microsoft.com/office/drawing/2014/main" id="{E3FD7F16-88B5-5D60-987E-C887DA907A4A}"/>
              </a:ext>
            </a:extLst>
          </p:cNvPr>
          <p:cNvSpPr txBox="1"/>
          <p:nvPr/>
        </p:nvSpPr>
        <p:spPr>
          <a:xfrm>
            <a:off x="7797228" y="1855750"/>
            <a:ext cx="1880016" cy="2862322"/>
          </a:xfrm>
          <a:prstGeom prst="rect">
            <a:avLst/>
          </a:prstGeom>
          <a:noFill/>
        </p:spPr>
        <p:txBody>
          <a:bodyPr wrap="square" rtlCol="0">
            <a:spAutoFit/>
          </a:bodyPr>
          <a:lstStyle/>
          <a:p>
            <a:r>
              <a:rPr lang="en-ZA" b="1" dirty="0"/>
              <a:t>Question Categories</a:t>
            </a:r>
          </a:p>
          <a:p>
            <a:endParaRPr lang="en-ZA" dirty="0"/>
          </a:p>
          <a:p>
            <a:r>
              <a:rPr lang="en-ZA" dirty="0"/>
              <a:t>All categories on the left had a set of questions ranging from 3 to 6.</a:t>
            </a:r>
          </a:p>
          <a:p>
            <a:endParaRPr lang="en-ZA" dirty="0"/>
          </a:p>
          <a:p>
            <a:endParaRPr lang="en-ZA" dirty="0"/>
          </a:p>
        </p:txBody>
      </p:sp>
      <p:sp>
        <p:nvSpPr>
          <p:cNvPr id="12" name="TextBox 11">
            <a:extLst>
              <a:ext uri="{FF2B5EF4-FFF2-40B4-BE49-F238E27FC236}">
                <a16:creationId xmlns:a16="http://schemas.microsoft.com/office/drawing/2014/main" id="{37D94D75-0855-EF84-CB68-21AEADA2D985}"/>
              </a:ext>
            </a:extLst>
          </p:cNvPr>
          <p:cNvSpPr txBox="1"/>
          <p:nvPr/>
        </p:nvSpPr>
        <p:spPr>
          <a:xfrm>
            <a:off x="9857283" y="1859339"/>
            <a:ext cx="2158584" cy="3416320"/>
          </a:xfrm>
          <a:prstGeom prst="rect">
            <a:avLst/>
          </a:prstGeom>
          <a:noFill/>
        </p:spPr>
        <p:txBody>
          <a:bodyPr wrap="square" rtlCol="0">
            <a:spAutoFit/>
          </a:bodyPr>
          <a:lstStyle/>
          <a:p>
            <a:r>
              <a:rPr lang="en-ZA" b="1" dirty="0"/>
              <a:t>Purchase Intention</a:t>
            </a:r>
          </a:p>
          <a:p>
            <a:endParaRPr lang="en-ZA" dirty="0"/>
          </a:p>
          <a:p>
            <a:r>
              <a:rPr lang="en-ZA" dirty="0"/>
              <a:t>Four questions were asked which formed the predictor variable.</a:t>
            </a:r>
          </a:p>
          <a:p>
            <a:endParaRPr lang="en-ZA" dirty="0"/>
          </a:p>
          <a:p>
            <a:r>
              <a:rPr lang="en-ZA" dirty="0"/>
              <a:t>One of the questions was on </a:t>
            </a:r>
            <a:r>
              <a:rPr lang="en-ZA" b="1" dirty="0"/>
              <a:t>retention(PI3)</a:t>
            </a:r>
            <a:r>
              <a:rPr lang="en-ZA" dirty="0"/>
              <a:t> which will be the focus</a:t>
            </a:r>
          </a:p>
        </p:txBody>
      </p:sp>
      <p:sp>
        <p:nvSpPr>
          <p:cNvPr id="13" name="TextBox 12">
            <a:extLst>
              <a:ext uri="{FF2B5EF4-FFF2-40B4-BE49-F238E27FC236}">
                <a16:creationId xmlns:a16="http://schemas.microsoft.com/office/drawing/2014/main" id="{CB409DB4-FC91-93AA-002E-817C79B18F10}"/>
              </a:ext>
            </a:extLst>
          </p:cNvPr>
          <p:cNvSpPr txBox="1"/>
          <p:nvPr/>
        </p:nvSpPr>
        <p:spPr>
          <a:xfrm>
            <a:off x="5638644" y="5417747"/>
            <a:ext cx="6160957" cy="646331"/>
          </a:xfrm>
          <a:prstGeom prst="rect">
            <a:avLst/>
          </a:prstGeom>
          <a:noFill/>
        </p:spPr>
        <p:txBody>
          <a:bodyPr wrap="square" rtlCol="0">
            <a:spAutoFit/>
          </a:bodyPr>
          <a:lstStyle/>
          <a:p>
            <a:r>
              <a:rPr lang="en-ZA" dirty="0"/>
              <a:t>*</a:t>
            </a:r>
            <a:r>
              <a:rPr lang="en-ZA" i="1" dirty="0"/>
              <a:t>All variables followed a five point Lickert Scale (Strongly Disagree – Strongly Agree) or was a Boolean variable (1 or 2)*</a:t>
            </a:r>
            <a:endParaRPr lang="en-ZA" dirty="0"/>
          </a:p>
        </p:txBody>
      </p:sp>
    </p:spTree>
    <p:extLst>
      <p:ext uri="{BB962C8B-B14F-4D97-AF65-F5344CB8AC3E}">
        <p14:creationId xmlns:p14="http://schemas.microsoft.com/office/powerpoint/2010/main" val="2019177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6A20B6-56E9-187C-F82B-B95AC19961BF}"/>
              </a:ext>
            </a:extLst>
          </p:cNvPr>
          <p:cNvSpPr/>
          <p:nvPr/>
        </p:nvSpPr>
        <p:spPr>
          <a:xfrm>
            <a:off x="239842" y="176082"/>
            <a:ext cx="11617377" cy="103812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Overview of the Transformed Dataset</a:t>
            </a:r>
          </a:p>
        </p:txBody>
      </p:sp>
      <p:sp>
        <p:nvSpPr>
          <p:cNvPr id="3" name="Rectangle: Rounded Corners 2">
            <a:extLst>
              <a:ext uri="{FF2B5EF4-FFF2-40B4-BE49-F238E27FC236}">
                <a16:creationId xmlns:a16="http://schemas.microsoft.com/office/drawing/2014/main" id="{C0A843E7-454C-874E-85CF-3BC84515A81F}"/>
              </a:ext>
            </a:extLst>
          </p:cNvPr>
          <p:cNvSpPr/>
          <p:nvPr/>
        </p:nvSpPr>
        <p:spPr>
          <a:xfrm>
            <a:off x="239842" y="1379095"/>
            <a:ext cx="5661285" cy="704538"/>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Descriptive Variables</a:t>
            </a:r>
          </a:p>
        </p:txBody>
      </p:sp>
      <p:sp>
        <p:nvSpPr>
          <p:cNvPr id="4" name="TextBox 3">
            <a:extLst>
              <a:ext uri="{FF2B5EF4-FFF2-40B4-BE49-F238E27FC236}">
                <a16:creationId xmlns:a16="http://schemas.microsoft.com/office/drawing/2014/main" id="{D4FEEE2C-1BF9-D3F4-0B53-27F9131E753D}"/>
              </a:ext>
            </a:extLst>
          </p:cNvPr>
          <p:cNvSpPr txBox="1"/>
          <p:nvPr/>
        </p:nvSpPr>
        <p:spPr>
          <a:xfrm>
            <a:off x="239841" y="2161780"/>
            <a:ext cx="5661285" cy="923330"/>
          </a:xfrm>
          <a:prstGeom prst="rect">
            <a:avLst/>
          </a:prstGeom>
          <a:noFill/>
        </p:spPr>
        <p:txBody>
          <a:bodyPr wrap="square" rtlCol="0">
            <a:spAutoFit/>
          </a:bodyPr>
          <a:lstStyle/>
          <a:p>
            <a:r>
              <a:rPr lang="en-ZA" b="1" dirty="0"/>
              <a:t>Personal Information</a:t>
            </a:r>
          </a:p>
          <a:p>
            <a:endParaRPr lang="en-ZA" b="1" dirty="0"/>
          </a:p>
          <a:p>
            <a:r>
              <a:rPr lang="en-ZA" dirty="0"/>
              <a:t>Variables were decoded from numbers into strings, e.g.</a:t>
            </a:r>
          </a:p>
        </p:txBody>
      </p:sp>
      <p:graphicFrame>
        <p:nvGraphicFramePr>
          <p:cNvPr id="5" name="Table 4">
            <a:extLst>
              <a:ext uri="{FF2B5EF4-FFF2-40B4-BE49-F238E27FC236}">
                <a16:creationId xmlns:a16="http://schemas.microsoft.com/office/drawing/2014/main" id="{653D4645-E865-7E25-59D3-2367578B82F3}"/>
              </a:ext>
            </a:extLst>
          </p:cNvPr>
          <p:cNvGraphicFramePr>
            <a:graphicFrameLocks noGrp="1"/>
          </p:cNvGraphicFramePr>
          <p:nvPr>
            <p:extLst>
              <p:ext uri="{D42A27DB-BD31-4B8C-83A1-F6EECF244321}">
                <p14:modId xmlns:p14="http://schemas.microsoft.com/office/powerpoint/2010/main" val="2589403238"/>
              </p:ext>
            </p:extLst>
          </p:nvPr>
        </p:nvGraphicFramePr>
        <p:xfrm>
          <a:off x="239841" y="3490511"/>
          <a:ext cx="5661286" cy="741680"/>
        </p:xfrm>
        <a:graphic>
          <a:graphicData uri="http://schemas.openxmlformats.org/drawingml/2006/table">
            <a:tbl>
              <a:tblPr firstRow="1" bandRow="1">
                <a:tableStyleId>{5C22544A-7EE6-4342-B048-85BDC9FD1C3A}</a:tableStyleId>
              </a:tblPr>
              <a:tblGrid>
                <a:gridCol w="2728210">
                  <a:extLst>
                    <a:ext uri="{9D8B030D-6E8A-4147-A177-3AD203B41FA5}">
                      <a16:colId xmlns:a16="http://schemas.microsoft.com/office/drawing/2014/main" val="1063553992"/>
                    </a:ext>
                  </a:extLst>
                </a:gridCol>
                <a:gridCol w="2933076">
                  <a:extLst>
                    <a:ext uri="{9D8B030D-6E8A-4147-A177-3AD203B41FA5}">
                      <a16:colId xmlns:a16="http://schemas.microsoft.com/office/drawing/2014/main" val="2510917215"/>
                    </a:ext>
                  </a:extLst>
                </a:gridCol>
              </a:tblGrid>
              <a:tr h="370840">
                <a:tc>
                  <a:txBody>
                    <a:bodyPr/>
                    <a:lstStyle/>
                    <a:p>
                      <a:r>
                        <a:rPr lang="en-ZA" b="0" dirty="0">
                          <a:solidFill>
                            <a:schemeClr val="tx1"/>
                          </a:solidFill>
                        </a:rPr>
                        <a:t>1</a:t>
                      </a:r>
                    </a:p>
                  </a:txBody>
                  <a:tcPr>
                    <a:solidFill>
                      <a:schemeClr val="bg1"/>
                    </a:solidFill>
                  </a:tcPr>
                </a:tc>
                <a:tc>
                  <a:txBody>
                    <a:bodyPr/>
                    <a:lstStyle/>
                    <a:p>
                      <a:r>
                        <a:rPr lang="en-ZA" b="0" dirty="0">
                          <a:solidFill>
                            <a:schemeClr val="tx1"/>
                          </a:solidFill>
                        </a:rPr>
                        <a:t>Employed</a:t>
                      </a:r>
                    </a:p>
                  </a:txBody>
                  <a:tcPr>
                    <a:solidFill>
                      <a:schemeClr val="bg1"/>
                    </a:solidFill>
                  </a:tcPr>
                </a:tc>
                <a:extLst>
                  <a:ext uri="{0D108BD9-81ED-4DB2-BD59-A6C34878D82A}">
                    <a16:rowId xmlns:a16="http://schemas.microsoft.com/office/drawing/2014/main" val="4123018672"/>
                  </a:ext>
                </a:extLst>
              </a:tr>
              <a:tr h="370840">
                <a:tc>
                  <a:txBody>
                    <a:bodyPr/>
                    <a:lstStyle/>
                    <a:p>
                      <a:r>
                        <a:rPr lang="en-ZA" b="0" dirty="0">
                          <a:solidFill>
                            <a:schemeClr val="tx1"/>
                          </a:solidFill>
                        </a:rPr>
                        <a:t>2</a:t>
                      </a:r>
                    </a:p>
                  </a:txBody>
                  <a:tcPr>
                    <a:solidFill>
                      <a:schemeClr val="bg1"/>
                    </a:solidFill>
                  </a:tcPr>
                </a:tc>
                <a:tc>
                  <a:txBody>
                    <a:bodyPr/>
                    <a:lstStyle/>
                    <a:p>
                      <a:r>
                        <a:rPr lang="en-ZA" b="0" dirty="0">
                          <a:solidFill>
                            <a:schemeClr val="tx1"/>
                          </a:solidFill>
                        </a:rPr>
                        <a:t>Unemployed</a:t>
                      </a:r>
                    </a:p>
                  </a:txBody>
                  <a:tcPr>
                    <a:solidFill>
                      <a:schemeClr val="bg1"/>
                    </a:solidFill>
                  </a:tcPr>
                </a:tc>
                <a:extLst>
                  <a:ext uri="{0D108BD9-81ED-4DB2-BD59-A6C34878D82A}">
                    <a16:rowId xmlns:a16="http://schemas.microsoft.com/office/drawing/2014/main" val="1745325820"/>
                  </a:ext>
                </a:extLst>
              </a:tr>
            </a:tbl>
          </a:graphicData>
        </a:graphic>
      </p:graphicFrame>
      <p:sp>
        <p:nvSpPr>
          <p:cNvPr id="6" name="TextBox 5">
            <a:extLst>
              <a:ext uri="{FF2B5EF4-FFF2-40B4-BE49-F238E27FC236}">
                <a16:creationId xmlns:a16="http://schemas.microsoft.com/office/drawing/2014/main" id="{5F320AB3-4F72-9631-222F-4D62584EA800}"/>
              </a:ext>
            </a:extLst>
          </p:cNvPr>
          <p:cNvSpPr txBox="1"/>
          <p:nvPr/>
        </p:nvSpPr>
        <p:spPr>
          <a:xfrm>
            <a:off x="239841" y="3135836"/>
            <a:ext cx="3702572" cy="369332"/>
          </a:xfrm>
          <a:prstGeom prst="rect">
            <a:avLst/>
          </a:prstGeom>
          <a:noFill/>
        </p:spPr>
        <p:txBody>
          <a:bodyPr wrap="square" rtlCol="0">
            <a:spAutoFit/>
          </a:bodyPr>
          <a:lstStyle/>
          <a:p>
            <a:r>
              <a:rPr lang="en-ZA" dirty="0"/>
              <a:t>Employment Status: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B06C4AE-ECF5-5D4F-1308-E84BFBF0276D}"/>
                  </a:ext>
                </a:extLst>
              </p:cNvPr>
              <p:cNvSpPr txBox="1"/>
              <p:nvPr/>
            </p:nvSpPr>
            <p:spPr>
              <a:xfrm>
                <a:off x="239840" y="4175927"/>
                <a:ext cx="5661285" cy="2019784"/>
              </a:xfrm>
              <a:prstGeom prst="rect">
                <a:avLst/>
              </a:prstGeom>
              <a:noFill/>
            </p:spPr>
            <p:txBody>
              <a:bodyPr wrap="square" rtlCol="0">
                <a:spAutoFit/>
              </a:bodyPr>
              <a:lstStyle/>
              <a:p>
                <a:r>
                  <a:rPr lang="en-ZA" b="1" dirty="0"/>
                  <a:t>Question Categories</a:t>
                </a:r>
              </a:p>
              <a:p>
                <a:endParaRPr lang="en-ZA" b="1" dirty="0"/>
              </a:p>
              <a:p>
                <a:r>
                  <a:rPr lang="en-ZA" dirty="0"/>
                  <a:t>Variables were aggregated into a single category variable and was used as a rating e.g.</a:t>
                </a:r>
              </a:p>
              <a:p>
                <a:endParaRPr lang="en-ZA" dirty="0"/>
              </a:p>
              <a:p>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𝐸𝑚𝑝𝑎𝑡h𝑦</m:t>
                      </m:r>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𝐸</m:t>
                          </m:r>
                          <m:r>
                            <a:rPr lang="en-ZA" b="0" i="1" smtClean="0">
                              <a:latin typeface="Cambria Math" panose="02040503050406030204" pitchFamily="18" charset="0"/>
                            </a:rPr>
                            <m:t>1+</m:t>
                          </m:r>
                          <m:r>
                            <a:rPr lang="en-ZA" b="0" i="1" smtClean="0">
                              <a:latin typeface="Cambria Math" panose="02040503050406030204" pitchFamily="18" charset="0"/>
                            </a:rPr>
                            <m:t>𝐸</m:t>
                          </m:r>
                          <m:r>
                            <a:rPr lang="en-ZA" b="0" i="1" smtClean="0">
                              <a:latin typeface="Cambria Math" panose="02040503050406030204" pitchFamily="18" charset="0"/>
                            </a:rPr>
                            <m:t>2+</m:t>
                          </m:r>
                          <m:r>
                            <a:rPr lang="en-ZA" b="0" i="1" smtClean="0">
                              <a:latin typeface="Cambria Math" panose="02040503050406030204" pitchFamily="18" charset="0"/>
                            </a:rPr>
                            <m:t>𝐸</m:t>
                          </m:r>
                          <m:r>
                            <a:rPr lang="en-ZA" b="0" i="1" smtClean="0">
                              <a:latin typeface="Cambria Math" panose="02040503050406030204" pitchFamily="18" charset="0"/>
                            </a:rPr>
                            <m:t>3+</m:t>
                          </m:r>
                          <m:r>
                            <a:rPr lang="en-ZA" b="0" i="1" smtClean="0">
                              <a:latin typeface="Cambria Math" panose="02040503050406030204" pitchFamily="18" charset="0"/>
                            </a:rPr>
                            <m:t>𝐸</m:t>
                          </m:r>
                          <m:r>
                            <a:rPr lang="en-ZA" b="0" i="1" smtClean="0">
                              <a:latin typeface="Cambria Math" panose="02040503050406030204" pitchFamily="18" charset="0"/>
                            </a:rPr>
                            <m:t>4</m:t>
                          </m:r>
                        </m:num>
                        <m:den>
                          <m:r>
                            <a:rPr lang="en-ZA" b="0" i="1" smtClean="0">
                              <a:latin typeface="Cambria Math" panose="02040503050406030204" pitchFamily="18" charset="0"/>
                            </a:rPr>
                            <m:t>4</m:t>
                          </m:r>
                        </m:den>
                      </m:f>
                      <m:r>
                        <a:rPr lang="en-ZA" b="0" i="1" smtClean="0">
                          <a:latin typeface="Cambria Math" panose="02040503050406030204" pitchFamily="18" charset="0"/>
                        </a:rPr>
                        <m:t>⇒</m:t>
                      </m:r>
                      <m:r>
                        <a:rPr lang="en-ZA" b="0" i="1" smtClean="0">
                          <a:latin typeface="Cambria Math" panose="02040503050406030204" pitchFamily="18" charset="0"/>
                        </a:rPr>
                        <m:t>𝐸𝑚𝑝𝑎𝑡h𝑦</m:t>
                      </m:r>
                      <m:r>
                        <a:rPr lang="en-ZA" b="0" i="1" smtClean="0">
                          <a:latin typeface="Cambria Math" panose="02040503050406030204" pitchFamily="18" charset="0"/>
                        </a:rPr>
                        <m:t> </m:t>
                      </m:r>
                      <m:r>
                        <a:rPr lang="en-ZA" b="0" i="1" smtClean="0">
                          <a:latin typeface="Cambria Math" panose="02040503050406030204" pitchFamily="18" charset="0"/>
                        </a:rPr>
                        <m:t>𝑅𝑎𝑡𝑖𝑛𝑔</m:t>
                      </m:r>
                    </m:oMath>
                  </m:oMathPara>
                </a14:m>
                <a:endParaRPr lang="en-ZA" dirty="0"/>
              </a:p>
            </p:txBody>
          </p:sp>
        </mc:Choice>
        <mc:Fallback>
          <p:sp>
            <p:nvSpPr>
              <p:cNvPr id="8" name="TextBox 7">
                <a:extLst>
                  <a:ext uri="{FF2B5EF4-FFF2-40B4-BE49-F238E27FC236}">
                    <a16:creationId xmlns:a16="http://schemas.microsoft.com/office/drawing/2014/main" id="{FB06C4AE-ECF5-5D4F-1308-E84BFBF0276D}"/>
                  </a:ext>
                </a:extLst>
              </p:cNvPr>
              <p:cNvSpPr txBox="1">
                <a:spLocks noRot="1" noChangeAspect="1" noMove="1" noResize="1" noEditPoints="1" noAdjustHandles="1" noChangeArrowheads="1" noChangeShapeType="1" noTextEdit="1"/>
              </p:cNvSpPr>
              <p:nvPr/>
            </p:nvSpPr>
            <p:spPr>
              <a:xfrm>
                <a:off x="239840" y="4175927"/>
                <a:ext cx="5661285" cy="2019784"/>
              </a:xfrm>
              <a:prstGeom prst="rect">
                <a:avLst/>
              </a:prstGeom>
              <a:blipFill>
                <a:blip r:embed="rId2"/>
                <a:stretch>
                  <a:fillRect l="-861" t="-1208"/>
                </a:stretch>
              </a:blipFill>
            </p:spPr>
            <p:txBody>
              <a:bodyPr/>
              <a:lstStyle/>
              <a:p>
                <a:r>
                  <a:rPr lang="en-ZA">
                    <a:noFill/>
                  </a:rPr>
                  <a:t> </a:t>
                </a:r>
              </a:p>
            </p:txBody>
          </p:sp>
        </mc:Fallback>
      </mc:AlternateContent>
      <p:sp>
        <p:nvSpPr>
          <p:cNvPr id="9" name="Rectangle: Rounded Corners 8">
            <a:extLst>
              <a:ext uri="{FF2B5EF4-FFF2-40B4-BE49-F238E27FC236}">
                <a16:creationId xmlns:a16="http://schemas.microsoft.com/office/drawing/2014/main" id="{363AA5AB-F819-15A0-282E-AA8DA84AA0ED}"/>
              </a:ext>
            </a:extLst>
          </p:cNvPr>
          <p:cNvSpPr/>
          <p:nvPr/>
        </p:nvSpPr>
        <p:spPr>
          <a:xfrm>
            <a:off x="6195934" y="1379095"/>
            <a:ext cx="5661285" cy="704538"/>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Target Variable</a:t>
            </a:r>
          </a:p>
        </p:txBody>
      </p:sp>
      <p:sp>
        <p:nvSpPr>
          <p:cNvPr id="10" name="TextBox 9">
            <a:extLst>
              <a:ext uri="{FF2B5EF4-FFF2-40B4-BE49-F238E27FC236}">
                <a16:creationId xmlns:a16="http://schemas.microsoft.com/office/drawing/2014/main" id="{F2DEB8EE-E626-3963-9DC6-03B71EDD21F7}"/>
              </a:ext>
            </a:extLst>
          </p:cNvPr>
          <p:cNvSpPr txBox="1"/>
          <p:nvPr/>
        </p:nvSpPr>
        <p:spPr>
          <a:xfrm>
            <a:off x="6290874" y="2161780"/>
            <a:ext cx="5661285" cy="1200329"/>
          </a:xfrm>
          <a:prstGeom prst="rect">
            <a:avLst/>
          </a:prstGeom>
          <a:noFill/>
        </p:spPr>
        <p:txBody>
          <a:bodyPr wrap="square" rtlCol="0">
            <a:spAutoFit/>
          </a:bodyPr>
          <a:lstStyle/>
          <a:p>
            <a:r>
              <a:rPr lang="en-ZA" b="1" dirty="0"/>
              <a:t>Customer Retention</a:t>
            </a:r>
          </a:p>
          <a:p>
            <a:endParaRPr lang="en-ZA" b="1" dirty="0"/>
          </a:p>
          <a:p>
            <a:r>
              <a:rPr lang="en-ZA" dirty="0"/>
              <a:t>One of the Purchase Intention variables (PI3) were decoded into strings:</a:t>
            </a:r>
          </a:p>
        </p:txBody>
      </p:sp>
      <p:graphicFrame>
        <p:nvGraphicFramePr>
          <p:cNvPr id="11" name="Table 10">
            <a:extLst>
              <a:ext uri="{FF2B5EF4-FFF2-40B4-BE49-F238E27FC236}">
                <a16:creationId xmlns:a16="http://schemas.microsoft.com/office/drawing/2014/main" id="{AAA77A66-08DB-59DE-D12F-B67C30A813E7}"/>
              </a:ext>
            </a:extLst>
          </p:cNvPr>
          <p:cNvGraphicFramePr>
            <a:graphicFrameLocks noGrp="1"/>
          </p:cNvGraphicFramePr>
          <p:nvPr>
            <p:extLst>
              <p:ext uri="{D42A27DB-BD31-4B8C-83A1-F6EECF244321}">
                <p14:modId xmlns:p14="http://schemas.microsoft.com/office/powerpoint/2010/main" val="287664072"/>
              </p:ext>
            </p:extLst>
          </p:nvPr>
        </p:nvGraphicFramePr>
        <p:xfrm>
          <a:off x="6290873" y="3362109"/>
          <a:ext cx="5566346" cy="1828800"/>
        </p:xfrm>
        <a:graphic>
          <a:graphicData uri="http://schemas.openxmlformats.org/drawingml/2006/table">
            <a:tbl>
              <a:tblPr firstRow="1" bandRow="1">
                <a:tableStyleId>{5C22544A-7EE6-4342-B048-85BDC9FD1C3A}</a:tableStyleId>
              </a:tblPr>
              <a:tblGrid>
                <a:gridCol w="2783173">
                  <a:extLst>
                    <a:ext uri="{9D8B030D-6E8A-4147-A177-3AD203B41FA5}">
                      <a16:colId xmlns:a16="http://schemas.microsoft.com/office/drawing/2014/main" val="2452733481"/>
                    </a:ext>
                  </a:extLst>
                </a:gridCol>
                <a:gridCol w="2783173">
                  <a:extLst>
                    <a:ext uri="{9D8B030D-6E8A-4147-A177-3AD203B41FA5}">
                      <a16:colId xmlns:a16="http://schemas.microsoft.com/office/drawing/2014/main" val="2755995374"/>
                    </a:ext>
                  </a:extLst>
                </a:gridCol>
              </a:tblGrid>
              <a:tr h="307935">
                <a:tc>
                  <a:txBody>
                    <a:bodyPr/>
                    <a:lstStyle/>
                    <a:p>
                      <a:r>
                        <a:rPr lang="en-ZA" b="0" dirty="0">
                          <a:solidFill>
                            <a:schemeClr val="tx1"/>
                          </a:solidFill>
                        </a:rPr>
                        <a:t>1</a:t>
                      </a:r>
                    </a:p>
                  </a:txBody>
                  <a:tcPr>
                    <a:solidFill>
                      <a:schemeClr val="bg1"/>
                    </a:solidFill>
                  </a:tcPr>
                </a:tc>
                <a:tc>
                  <a:txBody>
                    <a:bodyPr/>
                    <a:lstStyle/>
                    <a:p>
                      <a:r>
                        <a:rPr lang="en-ZA" b="0" dirty="0">
                          <a:solidFill>
                            <a:schemeClr val="tx1"/>
                          </a:solidFill>
                        </a:rPr>
                        <a:t>No Returning</a:t>
                      </a:r>
                    </a:p>
                  </a:txBody>
                  <a:tcPr>
                    <a:solidFill>
                      <a:schemeClr val="bg1"/>
                    </a:solidFill>
                  </a:tcPr>
                </a:tc>
                <a:extLst>
                  <a:ext uri="{0D108BD9-81ED-4DB2-BD59-A6C34878D82A}">
                    <a16:rowId xmlns:a16="http://schemas.microsoft.com/office/drawing/2014/main" val="318181570"/>
                  </a:ext>
                </a:extLst>
              </a:tr>
              <a:tr h="307935">
                <a:tc>
                  <a:txBody>
                    <a:bodyPr/>
                    <a:lstStyle/>
                    <a:p>
                      <a:r>
                        <a:rPr lang="en-ZA" dirty="0">
                          <a:solidFill>
                            <a:schemeClr val="tx1"/>
                          </a:solidFill>
                        </a:rPr>
                        <a:t>2</a:t>
                      </a:r>
                    </a:p>
                  </a:txBody>
                  <a:tcPr>
                    <a:solidFill>
                      <a:schemeClr val="bg1"/>
                    </a:solidFill>
                  </a:tcPr>
                </a:tc>
                <a:tc>
                  <a:txBody>
                    <a:bodyPr/>
                    <a:lstStyle/>
                    <a:p>
                      <a:r>
                        <a:rPr lang="en-ZA" dirty="0">
                          <a:solidFill>
                            <a:schemeClr val="tx1"/>
                          </a:solidFill>
                        </a:rPr>
                        <a:t>Probably not Returning</a:t>
                      </a:r>
                    </a:p>
                  </a:txBody>
                  <a:tcPr>
                    <a:solidFill>
                      <a:schemeClr val="bg1"/>
                    </a:solidFill>
                  </a:tcPr>
                </a:tc>
                <a:extLst>
                  <a:ext uri="{0D108BD9-81ED-4DB2-BD59-A6C34878D82A}">
                    <a16:rowId xmlns:a16="http://schemas.microsoft.com/office/drawing/2014/main" val="954875855"/>
                  </a:ext>
                </a:extLst>
              </a:tr>
              <a:tr h="307935">
                <a:tc>
                  <a:txBody>
                    <a:bodyPr/>
                    <a:lstStyle/>
                    <a:p>
                      <a:r>
                        <a:rPr lang="en-ZA" dirty="0">
                          <a:solidFill>
                            <a:schemeClr val="tx1"/>
                          </a:solidFill>
                        </a:rPr>
                        <a:t>3</a:t>
                      </a:r>
                    </a:p>
                  </a:txBody>
                  <a:tcPr>
                    <a:solidFill>
                      <a:schemeClr val="bg1"/>
                    </a:solidFill>
                  </a:tcPr>
                </a:tc>
                <a:tc>
                  <a:txBody>
                    <a:bodyPr/>
                    <a:lstStyle/>
                    <a:p>
                      <a:r>
                        <a:rPr lang="en-ZA" dirty="0">
                          <a:solidFill>
                            <a:schemeClr val="tx1"/>
                          </a:solidFill>
                        </a:rPr>
                        <a:t>Unsure</a:t>
                      </a:r>
                    </a:p>
                  </a:txBody>
                  <a:tcPr>
                    <a:solidFill>
                      <a:schemeClr val="bg1"/>
                    </a:solidFill>
                  </a:tcPr>
                </a:tc>
                <a:extLst>
                  <a:ext uri="{0D108BD9-81ED-4DB2-BD59-A6C34878D82A}">
                    <a16:rowId xmlns:a16="http://schemas.microsoft.com/office/drawing/2014/main" val="984672600"/>
                  </a:ext>
                </a:extLst>
              </a:tr>
              <a:tr h="307935">
                <a:tc>
                  <a:txBody>
                    <a:bodyPr/>
                    <a:lstStyle/>
                    <a:p>
                      <a:r>
                        <a:rPr lang="en-ZA" dirty="0">
                          <a:solidFill>
                            <a:schemeClr val="tx1"/>
                          </a:solidFill>
                        </a:rPr>
                        <a:t>4</a:t>
                      </a:r>
                    </a:p>
                  </a:txBody>
                  <a:tcPr>
                    <a:solidFill>
                      <a:schemeClr val="bg1"/>
                    </a:solidFill>
                  </a:tcPr>
                </a:tc>
                <a:tc>
                  <a:txBody>
                    <a:bodyPr/>
                    <a:lstStyle/>
                    <a:p>
                      <a:r>
                        <a:rPr lang="en-ZA" dirty="0">
                          <a:solidFill>
                            <a:schemeClr val="tx1"/>
                          </a:solidFill>
                        </a:rPr>
                        <a:t>Probably Returning</a:t>
                      </a:r>
                    </a:p>
                  </a:txBody>
                  <a:tcPr>
                    <a:solidFill>
                      <a:schemeClr val="bg1"/>
                    </a:solidFill>
                  </a:tcPr>
                </a:tc>
                <a:extLst>
                  <a:ext uri="{0D108BD9-81ED-4DB2-BD59-A6C34878D82A}">
                    <a16:rowId xmlns:a16="http://schemas.microsoft.com/office/drawing/2014/main" val="2674373687"/>
                  </a:ext>
                </a:extLst>
              </a:tr>
              <a:tr h="307935">
                <a:tc>
                  <a:txBody>
                    <a:bodyPr/>
                    <a:lstStyle/>
                    <a:p>
                      <a:r>
                        <a:rPr lang="en-ZA" dirty="0">
                          <a:solidFill>
                            <a:schemeClr val="tx1"/>
                          </a:solidFill>
                        </a:rPr>
                        <a:t>5</a:t>
                      </a:r>
                    </a:p>
                  </a:txBody>
                  <a:tcPr>
                    <a:solidFill>
                      <a:schemeClr val="bg1"/>
                    </a:solidFill>
                  </a:tcPr>
                </a:tc>
                <a:tc>
                  <a:txBody>
                    <a:bodyPr/>
                    <a:lstStyle/>
                    <a:p>
                      <a:r>
                        <a:rPr lang="en-ZA" dirty="0">
                          <a:solidFill>
                            <a:schemeClr val="tx1"/>
                          </a:solidFill>
                        </a:rPr>
                        <a:t>Returning</a:t>
                      </a:r>
                    </a:p>
                  </a:txBody>
                  <a:tcPr>
                    <a:solidFill>
                      <a:schemeClr val="bg1"/>
                    </a:solidFill>
                  </a:tcPr>
                </a:tc>
                <a:extLst>
                  <a:ext uri="{0D108BD9-81ED-4DB2-BD59-A6C34878D82A}">
                    <a16:rowId xmlns:a16="http://schemas.microsoft.com/office/drawing/2014/main" val="2137175673"/>
                  </a:ext>
                </a:extLst>
              </a:tr>
            </a:tbl>
          </a:graphicData>
        </a:graphic>
      </p:graphicFrame>
    </p:spTree>
    <p:extLst>
      <p:ext uri="{BB962C8B-B14F-4D97-AF65-F5344CB8AC3E}">
        <p14:creationId xmlns:p14="http://schemas.microsoft.com/office/powerpoint/2010/main" val="1522270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243DC35-B9E7-B97A-31ED-E92701139480}"/>
              </a:ext>
            </a:extLst>
          </p:cNvPr>
          <p:cNvSpPr/>
          <p:nvPr/>
        </p:nvSpPr>
        <p:spPr>
          <a:xfrm>
            <a:off x="239842" y="176082"/>
            <a:ext cx="11617377" cy="49847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Core Question</a:t>
            </a:r>
          </a:p>
        </p:txBody>
      </p:sp>
      <p:sp>
        <p:nvSpPr>
          <p:cNvPr id="3" name="Rectangle: Rounded Corners 2">
            <a:extLst>
              <a:ext uri="{FF2B5EF4-FFF2-40B4-BE49-F238E27FC236}">
                <a16:creationId xmlns:a16="http://schemas.microsoft.com/office/drawing/2014/main" id="{81FF96A0-6259-B2CA-5CE9-A408898F958D}"/>
              </a:ext>
            </a:extLst>
          </p:cNvPr>
          <p:cNvSpPr/>
          <p:nvPr/>
        </p:nvSpPr>
        <p:spPr>
          <a:xfrm>
            <a:off x="239841" y="823158"/>
            <a:ext cx="11617377" cy="765799"/>
          </a:xfrm>
          <a:prstGeom prst="roundRect">
            <a:avLst/>
          </a:prstGeom>
          <a:solidFill>
            <a:srgbClr val="C00000">
              <a:alpha val="9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200" b="1" dirty="0"/>
              <a:t>What are the Generational Trends in Customer Retention?</a:t>
            </a:r>
          </a:p>
        </p:txBody>
      </p:sp>
      <p:sp>
        <p:nvSpPr>
          <p:cNvPr id="4" name="TextBox 3">
            <a:extLst>
              <a:ext uri="{FF2B5EF4-FFF2-40B4-BE49-F238E27FC236}">
                <a16:creationId xmlns:a16="http://schemas.microsoft.com/office/drawing/2014/main" id="{44DADF41-4BE7-7894-B3A9-14AE31ED57DA}"/>
              </a:ext>
            </a:extLst>
          </p:cNvPr>
          <p:cNvSpPr txBox="1"/>
          <p:nvPr/>
        </p:nvSpPr>
        <p:spPr>
          <a:xfrm>
            <a:off x="287312" y="1818807"/>
            <a:ext cx="4961746" cy="4524315"/>
          </a:xfrm>
          <a:prstGeom prst="rect">
            <a:avLst/>
          </a:prstGeom>
          <a:noFill/>
        </p:spPr>
        <p:txBody>
          <a:bodyPr wrap="square" rtlCol="0">
            <a:spAutoFit/>
          </a:bodyPr>
          <a:lstStyle/>
          <a:p>
            <a:r>
              <a:rPr lang="en-ZA" b="1" dirty="0"/>
              <a:t>Why this Question?</a:t>
            </a:r>
          </a:p>
          <a:p>
            <a:endParaRPr lang="en-ZA" b="1" dirty="0"/>
          </a:p>
          <a:p>
            <a:r>
              <a:rPr lang="en-ZA" dirty="0"/>
              <a:t>Each Generation has different generic values which can influence whether they’ll churn or not. Older generations may have negative views on today’s product quality compared to the past or younger generations may have a higher degree of </a:t>
            </a:r>
            <a:r>
              <a:rPr lang="en-ZA" b="1" dirty="0"/>
              <a:t>brand loyalty</a:t>
            </a:r>
            <a:r>
              <a:rPr lang="en-ZA" dirty="0"/>
              <a:t> because they grew up with the current grocery stores already in place.</a:t>
            </a:r>
          </a:p>
          <a:p>
            <a:endParaRPr lang="en-ZA" dirty="0"/>
          </a:p>
          <a:p>
            <a:r>
              <a:rPr lang="en-ZA" dirty="0"/>
              <a:t>With this in mind, quality and brand loyalty (PI2) will be given special attention to identify if there is a trend.</a:t>
            </a:r>
          </a:p>
          <a:p>
            <a:endParaRPr lang="en-ZA" dirty="0"/>
          </a:p>
          <a:p>
            <a:r>
              <a:rPr lang="en-ZA" dirty="0"/>
              <a:t>Education Level and Employment status will also be considered but in less detail.</a:t>
            </a:r>
          </a:p>
        </p:txBody>
      </p:sp>
      <p:sp>
        <p:nvSpPr>
          <p:cNvPr id="5" name="TextBox 4">
            <a:extLst>
              <a:ext uri="{FF2B5EF4-FFF2-40B4-BE49-F238E27FC236}">
                <a16:creationId xmlns:a16="http://schemas.microsoft.com/office/drawing/2014/main" id="{DB6DCA3F-A194-6D53-1DC2-FDB479752B2C}"/>
              </a:ext>
            </a:extLst>
          </p:cNvPr>
          <p:cNvSpPr txBox="1"/>
          <p:nvPr/>
        </p:nvSpPr>
        <p:spPr>
          <a:xfrm>
            <a:off x="6048529" y="1818807"/>
            <a:ext cx="5856159" cy="5078313"/>
          </a:xfrm>
          <a:prstGeom prst="rect">
            <a:avLst/>
          </a:prstGeom>
          <a:noFill/>
        </p:spPr>
        <p:txBody>
          <a:bodyPr wrap="square" rtlCol="0">
            <a:spAutoFit/>
          </a:bodyPr>
          <a:lstStyle/>
          <a:p>
            <a:r>
              <a:rPr lang="en-ZA" b="1" dirty="0"/>
              <a:t>What’s out of scope?</a:t>
            </a:r>
          </a:p>
          <a:p>
            <a:endParaRPr lang="en-ZA" b="1" dirty="0"/>
          </a:p>
          <a:p>
            <a:r>
              <a:rPr lang="en-ZA" b="1" dirty="0"/>
              <a:t>Sex</a:t>
            </a:r>
          </a:p>
          <a:p>
            <a:r>
              <a:rPr lang="en-ZA" dirty="0"/>
              <a:t>The goal is to target a specific group of the population regardless of sex. All chosen variables had more than 2 categories except for Employment Status due to the South African context.</a:t>
            </a:r>
          </a:p>
          <a:p>
            <a:endParaRPr lang="en-ZA" dirty="0"/>
          </a:p>
          <a:p>
            <a:r>
              <a:rPr lang="en-ZA" b="1" dirty="0"/>
              <a:t>Shopping Frequency</a:t>
            </a:r>
          </a:p>
          <a:p>
            <a:r>
              <a:rPr lang="en-ZA" dirty="0"/>
              <a:t>The degree of customer retention is not important for this study. Only whether the person plans to come back or not.</a:t>
            </a:r>
          </a:p>
          <a:p>
            <a:endParaRPr lang="en-ZA" dirty="0"/>
          </a:p>
          <a:p>
            <a:r>
              <a:rPr lang="en-ZA" b="1" dirty="0"/>
              <a:t>Regular Customer </a:t>
            </a:r>
          </a:p>
          <a:p>
            <a:r>
              <a:rPr lang="en-ZA" dirty="0"/>
              <a:t>There is a direct correlation between being a regular customer and retention. If plans are made for modelling, the would introduce multicollinearity, therefore is excluded</a:t>
            </a:r>
          </a:p>
        </p:txBody>
      </p:sp>
    </p:spTree>
    <p:extLst>
      <p:ext uri="{BB962C8B-B14F-4D97-AF65-F5344CB8AC3E}">
        <p14:creationId xmlns:p14="http://schemas.microsoft.com/office/powerpoint/2010/main" val="2808219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92FBFA5-A9DB-0172-C410-F43BF8DCFF94}"/>
              </a:ext>
            </a:extLst>
          </p:cNvPr>
          <p:cNvSpPr/>
          <p:nvPr/>
        </p:nvSpPr>
        <p:spPr>
          <a:xfrm>
            <a:off x="934387" y="104931"/>
            <a:ext cx="10583056" cy="125917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400" b="1" dirty="0"/>
              <a:t>Key Insights and Methodology</a:t>
            </a:r>
          </a:p>
        </p:txBody>
      </p:sp>
      <p:sp>
        <p:nvSpPr>
          <p:cNvPr id="3" name="TextBox 2">
            <a:extLst>
              <a:ext uri="{FF2B5EF4-FFF2-40B4-BE49-F238E27FC236}">
                <a16:creationId xmlns:a16="http://schemas.microsoft.com/office/drawing/2014/main" id="{2CE1F144-A281-B407-1808-E69133F4CD6A}"/>
              </a:ext>
            </a:extLst>
          </p:cNvPr>
          <p:cNvSpPr txBox="1"/>
          <p:nvPr/>
        </p:nvSpPr>
        <p:spPr>
          <a:xfrm>
            <a:off x="1139252" y="1603948"/>
            <a:ext cx="4452079" cy="4247317"/>
          </a:xfrm>
          <a:prstGeom prst="rect">
            <a:avLst/>
          </a:prstGeom>
          <a:noFill/>
        </p:spPr>
        <p:txBody>
          <a:bodyPr wrap="square" rtlCol="0">
            <a:spAutoFit/>
          </a:bodyPr>
          <a:lstStyle/>
          <a:p>
            <a:r>
              <a:rPr lang="en-ZA" b="1" dirty="0"/>
              <a:t>Overall Project Methodology</a:t>
            </a:r>
          </a:p>
          <a:p>
            <a:endParaRPr lang="en-ZA" b="1" dirty="0"/>
          </a:p>
          <a:p>
            <a:r>
              <a:rPr lang="en-ZA" dirty="0"/>
              <a:t>The dataset was connected to a Jupyter Notebook from VS Code. </a:t>
            </a:r>
          </a:p>
          <a:p>
            <a:endParaRPr lang="en-ZA" dirty="0"/>
          </a:p>
          <a:p>
            <a:r>
              <a:rPr lang="en-ZA" dirty="0"/>
              <a:t>Three Data Dictionaries were created. Two for pre-transformation and one post transformation. </a:t>
            </a:r>
          </a:p>
          <a:p>
            <a:endParaRPr lang="en-ZA" dirty="0"/>
          </a:p>
          <a:p>
            <a:r>
              <a:rPr lang="en-ZA" dirty="0"/>
              <a:t>EDA was done one selected important features.</a:t>
            </a:r>
          </a:p>
          <a:p>
            <a:endParaRPr lang="en-ZA" dirty="0"/>
          </a:p>
          <a:p>
            <a:r>
              <a:rPr lang="en-ZA" dirty="0"/>
              <a:t>The project folder was uploaded to GitHub and the Looker Studio dashboard was created.</a:t>
            </a:r>
          </a:p>
        </p:txBody>
      </p:sp>
      <p:sp>
        <p:nvSpPr>
          <p:cNvPr id="4" name="TextBox 3">
            <a:extLst>
              <a:ext uri="{FF2B5EF4-FFF2-40B4-BE49-F238E27FC236}">
                <a16:creationId xmlns:a16="http://schemas.microsoft.com/office/drawing/2014/main" id="{32BB0D7F-F522-68BC-65C1-F66780DB77A9}"/>
              </a:ext>
            </a:extLst>
          </p:cNvPr>
          <p:cNvSpPr txBox="1"/>
          <p:nvPr/>
        </p:nvSpPr>
        <p:spPr>
          <a:xfrm>
            <a:off x="5896131" y="1603948"/>
            <a:ext cx="5621312" cy="3139321"/>
          </a:xfrm>
          <a:prstGeom prst="rect">
            <a:avLst/>
          </a:prstGeom>
          <a:noFill/>
        </p:spPr>
        <p:txBody>
          <a:bodyPr wrap="square" rtlCol="0">
            <a:spAutoFit/>
          </a:bodyPr>
          <a:lstStyle/>
          <a:p>
            <a:r>
              <a:rPr lang="en-ZA" b="1" dirty="0"/>
              <a:t>EDA Methodology</a:t>
            </a:r>
          </a:p>
          <a:p>
            <a:endParaRPr lang="en-ZA" b="1" dirty="0"/>
          </a:p>
          <a:p>
            <a:r>
              <a:rPr lang="en-ZA" dirty="0"/>
              <a:t>Datasets were grouped and aggregated based on the visualization intended.</a:t>
            </a:r>
          </a:p>
          <a:p>
            <a:endParaRPr lang="en-ZA" dirty="0"/>
          </a:p>
          <a:p>
            <a:r>
              <a:rPr lang="en-ZA" dirty="0"/>
              <a:t>Plotnine and Hcharts (R ) was used to create the graphs.  </a:t>
            </a:r>
          </a:p>
          <a:p>
            <a:endParaRPr lang="en-ZA" dirty="0"/>
          </a:p>
          <a:p>
            <a:r>
              <a:rPr lang="en-ZA" dirty="0"/>
              <a:t>Based on the visualization, further analysis were done if a point of interest were detected.</a:t>
            </a:r>
          </a:p>
          <a:p>
            <a:endParaRPr lang="en-ZA" dirty="0"/>
          </a:p>
        </p:txBody>
      </p:sp>
    </p:spTree>
    <p:extLst>
      <p:ext uri="{BB962C8B-B14F-4D97-AF65-F5344CB8AC3E}">
        <p14:creationId xmlns:p14="http://schemas.microsoft.com/office/powerpoint/2010/main" val="300694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C4354FC-2228-DB8A-9457-13007D9A48AF}"/>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Generational Trends</a:t>
            </a:r>
          </a:p>
        </p:txBody>
      </p:sp>
      <p:sp>
        <p:nvSpPr>
          <p:cNvPr id="5" name="TextBox 4">
            <a:extLst>
              <a:ext uri="{FF2B5EF4-FFF2-40B4-BE49-F238E27FC236}">
                <a16:creationId xmlns:a16="http://schemas.microsoft.com/office/drawing/2014/main" id="{0E7D04D1-9DFA-65C1-2E4A-B07A8862F407}"/>
              </a:ext>
            </a:extLst>
          </p:cNvPr>
          <p:cNvSpPr txBox="1"/>
          <p:nvPr/>
        </p:nvSpPr>
        <p:spPr>
          <a:xfrm>
            <a:off x="6183443" y="959348"/>
            <a:ext cx="5236134" cy="2585323"/>
          </a:xfrm>
          <a:prstGeom prst="rect">
            <a:avLst/>
          </a:prstGeom>
          <a:noFill/>
        </p:spPr>
        <p:txBody>
          <a:bodyPr wrap="square" rtlCol="0">
            <a:spAutoFit/>
          </a:bodyPr>
          <a:lstStyle/>
          <a:p>
            <a:r>
              <a:rPr lang="en-ZA" b="1" dirty="0"/>
              <a:t>The problematic Generations</a:t>
            </a:r>
          </a:p>
          <a:p>
            <a:endParaRPr lang="en-ZA" b="1" dirty="0"/>
          </a:p>
          <a:p>
            <a:r>
              <a:rPr lang="en-ZA" dirty="0"/>
              <a:t>15% of Gen Z answered Unfavourably</a:t>
            </a:r>
          </a:p>
          <a:p>
            <a:endParaRPr lang="en-ZA" dirty="0"/>
          </a:p>
          <a:p>
            <a:r>
              <a:rPr lang="en-ZA" dirty="0"/>
              <a:t>18 % of Gen X answered Unfavourably</a:t>
            </a:r>
          </a:p>
          <a:p>
            <a:endParaRPr lang="en-ZA" dirty="0"/>
          </a:p>
          <a:p>
            <a:r>
              <a:rPr lang="en-ZA" dirty="0"/>
              <a:t>These generations should be focused on to increase customer retention.</a:t>
            </a:r>
          </a:p>
          <a:p>
            <a:endParaRPr lang="en-ZA" dirty="0"/>
          </a:p>
        </p:txBody>
      </p:sp>
      <p:sp>
        <p:nvSpPr>
          <p:cNvPr id="8" name="TextBox 7">
            <a:extLst>
              <a:ext uri="{FF2B5EF4-FFF2-40B4-BE49-F238E27FC236}">
                <a16:creationId xmlns:a16="http://schemas.microsoft.com/office/drawing/2014/main" id="{349184B1-8C26-2B10-484F-BDF7E6907853}"/>
              </a:ext>
            </a:extLst>
          </p:cNvPr>
          <p:cNvSpPr txBox="1"/>
          <p:nvPr/>
        </p:nvSpPr>
        <p:spPr>
          <a:xfrm>
            <a:off x="6183442" y="3544671"/>
            <a:ext cx="5236135" cy="2308324"/>
          </a:xfrm>
          <a:prstGeom prst="rect">
            <a:avLst/>
          </a:prstGeom>
          <a:noFill/>
        </p:spPr>
        <p:txBody>
          <a:bodyPr wrap="square" rtlCol="0">
            <a:spAutoFit/>
          </a:bodyPr>
          <a:lstStyle/>
          <a:p>
            <a:r>
              <a:rPr lang="en-ZA" b="1" dirty="0"/>
              <a:t>The well represented Generations</a:t>
            </a:r>
          </a:p>
          <a:p>
            <a:endParaRPr lang="en-ZA" dirty="0"/>
          </a:p>
          <a:p>
            <a:r>
              <a:rPr lang="en-ZA" dirty="0"/>
              <a:t>All groups had similar favourable answers but different unfavourable answers.</a:t>
            </a:r>
          </a:p>
          <a:p>
            <a:endParaRPr lang="en-ZA" dirty="0"/>
          </a:p>
          <a:p>
            <a:r>
              <a:rPr lang="en-ZA" dirty="0"/>
              <a:t>Focus should be placed on Gen X specifically to increase customer retention among the No Return and Probably No Return categories.</a:t>
            </a:r>
          </a:p>
        </p:txBody>
      </p:sp>
      <p:pic>
        <p:nvPicPr>
          <p:cNvPr id="10" name="Picture 9">
            <a:extLst>
              <a:ext uri="{FF2B5EF4-FFF2-40B4-BE49-F238E27FC236}">
                <a16:creationId xmlns:a16="http://schemas.microsoft.com/office/drawing/2014/main" id="{97F6364E-7AD2-441F-C546-CAE8048BE1F9}"/>
              </a:ext>
            </a:extLst>
          </p:cNvPr>
          <p:cNvPicPr>
            <a:picLocks noChangeAspect="1"/>
          </p:cNvPicPr>
          <p:nvPr/>
        </p:nvPicPr>
        <p:blipFill>
          <a:blip r:embed="rId2"/>
          <a:stretch>
            <a:fillRect/>
          </a:stretch>
        </p:blipFill>
        <p:spPr>
          <a:xfrm>
            <a:off x="584616" y="959348"/>
            <a:ext cx="5511384" cy="5426462"/>
          </a:xfrm>
          <a:prstGeom prst="rect">
            <a:avLst/>
          </a:prstGeom>
        </p:spPr>
      </p:pic>
    </p:spTree>
    <p:extLst>
      <p:ext uri="{BB962C8B-B14F-4D97-AF65-F5344CB8AC3E}">
        <p14:creationId xmlns:p14="http://schemas.microsoft.com/office/powerpoint/2010/main" val="407347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841C0FA-9467-AAAC-4DEA-E2C890949A66}"/>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Generational Trends</a:t>
            </a:r>
          </a:p>
        </p:txBody>
      </p:sp>
      <p:pic>
        <p:nvPicPr>
          <p:cNvPr id="6" name="Picture 5">
            <a:extLst>
              <a:ext uri="{FF2B5EF4-FFF2-40B4-BE49-F238E27FC236}">
                <a16:creationId xmlns:a16="http://schemas.microsoft.com/office/drawing/2014/main" id="{B956E32D-07E8-3419-A582-079E87A93B5B}"/>
              </a:ext>
            </a:extLst>
          </p:cNvPr>
          <p:cNvPicPr>
            <a:picLocks noChangeAspect="1"/>
          </p:cNvPicPr>
          <p:nvPr/>
        </p:nvPicPr>
        <p:blipFill>
          <a:blip r:embed="rId2"/>
          <a:stretch>
            <a:fillRect/>
          </a:stretch>
        </p:blipFill>
        <p:spPr>
          <a:xfrm>
            <a:off x="584616" y="1124262"/>
            <a:ext cx="5511384" cy="5111646"/>
          </a:xfrm>
          <a:prstGeom prst="rect">
            <a:avLst/>
          </a:prstGeom>
        </p:spPr>
      </p:pic>
      <p:sp>
        <p:nvSpPr>
          <p:cNvPr id="7" name="TextBox 6">
            <a:extLst>
              <a:ext uri="{FF2B5EF4-FFF2-40B4-BE49-F238E27FC236}">
                <a16:creationId xmlns:a16="http://schemas.microsoft.com/office/drawing/2014/main" id="{A6855F2C-8600-1DF4-874A-6E36831C3422}"/>
              </a:ext>
            </a:extLst>
          </p:cNvPr>
          <p:cNvSpPr txBox="1"/>
          <p:nvPr/>
        </p:nvSpPr>
        <p:spPr>
          <a:xfrm>
            <a:off x="6625652" y="1259174"/>
            <a:ext cx="5156617" cy="3970318"/>
          </a:xfrm>
          <a:prstGeom prst="rect">
            <a:avLst/>
          </a:prstGeom>
          <a:noFill/>
        </p:spPr>
        <p:txBody>
          <a:bodyPr wrap="square" rtlCol="0">
            <a:spAutoFit/>
          </a:bodyPr>
          <a:lstStyle/>
          <a:p>
            <a:pPr algn="ctr"/>
            <a:r>
              <a:rPr lang="en-ZA" b="1" dirty="0"/>
              <a:t>Analysis of Chart</a:t>
            </a:r>
          </a:p>
          <a:p>
            <a:endParaRPr lang="en-ZA" dirty="0"/>
          </a:p>
          <a:p>
            <a:r>
              <a:rPr lang="en-ZA" dirty="0"/>
              <a:t>54% of millennials has some or complete brand loyalty.</a:t>
            </a:r>
          </a:p>
          <a:p>
            <a:endParaRPr lang="en-ZA" dirty="0"/>
          </a:p>
          <a:p>
            <a:r>
              <a:rPr lang="en-ZA" dirty="0"/>
              <a:t>52% of Boomers were somewhat loyal but nobody answered completely loyal.</a:t>
            </a:r>
          </a:p>
          <a:p>
            <a:endParaRPr lang="en-ZA" dirty="0"/>
          </a:p>
          <a:p>
            <a:r>
              <a:rPr lang="en-ZA" dirty="0"/>
              <a:t>18 % of Boomers has no or little loyalty</a:t>
            </a:r>
          </a:p>
          <a:p>
            <a:endParaRPr lang="en-ZA" dirty="0"/>
          </a:p>
          <a:p>
            <a:r>
              <a:rPr lang="en-ZA" dirty="0"/>
              <a:t>15% of Gen Z has no or little loyalty</a:t>
            </a:r>
          </a:p>
          <a:p>
            <a:endParaRPr lang="en-ZA" dirty="0"/>
          </a:p>
          <a:p>
            <a:r>
              <a:rPr lang="en-ZA" dirty="0"/>
              <a:t>The trend follows retention which reinforces these are the generations that should be focused on.</a:t>
            </a:r>
          </a:p>
        </p:txBody>
      </p:sp>
    </p:spTree>
    <p:extLst>
      <p:ext uri="{BB962C8B-B14F-4D97-AF65-F5344CB8AC3E}">
        <p14:creationId xmlns:p14="http://schemas.microsoft.com/office/powerpoint/2010/main" val="2695045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A849E3-9706-A647-432F-ED724B3EA7C0}"/>
              </a:ext>
            </a:extLst>
          </p:cNvPr>
          <p:cNvPicPr>
            <a:picLocks noChangeAspect="1"/>
          </p:cNvPicPr>
          <p:nvPr/>
        </p:nvPicPr>
        <p:blipFill>
          <a:blip r:embed="rId2"/>
          <a:stretch>
            <a:fillRect/>
          </a:stretch>
        </p:blipFill>
        <p:spPr>
          <a:xfrm>
            <a:off x="169889" y="854439"/>
            <a:ext cx="5926111" cy="5538866"/>
          </a:xfrm>
          <a:prstGeom prst="rect">
            <a:avLst/>
          </a:prstGeom>
        </p:spPr>
      </p:pic>
      <p:sp>
        <p:nvSpPr>
          <p:cNvPr id="6" name="Rectangle: Rounded Corners 5">
            <a:extLst>
              <a:ext uri="{FF2B5EF4-FFF2-40B4-BE49-F238E27FC236}">
                <a16:creationId xmlns:a16="http://schemas.microsoft.com/office/drawing/2014/main" id="{CFD55E3A-6E22-AB37-67AB-3FCEF1E519D8}"/>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Retention Trends</a:t>
            </a:r>
          </a:p>
        </p:txBody>
      </p:sp>
      <p:sp>
        <p:nvSpPr>
          <p:cNvPr id="7" name="TextBox 6">
            <a:extLst>
              <a:ext uri="{FF2B5EF4-FFF2-40B4-BE49-F238E27FC236}">
                <a16:creationId xmlns:a16="http://schemas.microsoft.com/office/drawing/2014/main" id="{BDA09EB9-9DA3-DEA9-D0A3-AE1EB1E624D2}"/>
              </a:ext>
            </a:extLst>
          </p:cNvPr>
          <p:cNvSpPr txBox="1"/>
          <p:nvPr/>
        </p:nvSpPr>
        <p:spPr>
          <a:xfrm>
            <a:off x="6625652" y="1259174"/>
            <a:ext cx="5156617" cy="3416320"/>
          </a:xfrm>
          <a:prstGeom prst="rect">
            <a:avLst/>
          </a:prstGeom>
          <a:noFill/>
        </p:spPr>
        <p:txBody>
          <a:bodyPr wrap="square" rtlCol="0">
            <a:spAutoFit/>
          </a:bodyPr>
          <a:lstStyle/>
          <a:p>
            <a:pPr algn="ctr"/>
            <a:r>
              <a:rPr lang="en-ZA" b="1" dirty="0"/>
              <a:t>Analysis of Chart</a:t>
            </a:r>
          </a:p>
          <a:p>
            <a:endParaRPr lang="en-ZA" dirty="0"/>
          </a:p>
          <a:p>
            <a:r>
              <a:rPr lang="en-ZA" dirty="0"/>
              <a:t>Majority of Intention Ratings show high retention showing a clear trend.</a:t>
            </a:r>
          </a:p>
          <a:p>
            <a:endParaRPr lang="en-ZA" dirty="0"/>
          </a:p>
          <a:p>
            <a:r>
              <a:rPr lang="en-ZA" dirty="0"/>
              <a:t>Unsure customers show low value rating scores but average or above ratings for other categories.</a:t>
            </a:r>
          </a:p>
          <a:p>
            <a:endParaRPr lang="en-ZA" dirty="0"/>
          </a:p>
          <a:p>
            <a:r>
              <a:rPr lang="en-ZA" dirty="0"/>
              <a:t>Value Rating should be focused on to increase retention rates.</a:t>
            </a:r>
          </a:p>
          <a:p>
            <a:endParaRPr lang="en-ZA" dirty="0"/>
          </a:p>
          <a:p>
            <a:endParaRPr lang="en-ZA" dirty="0"/>
          </a:p>
        </p:txBody>
      </p:sp>
    </p:spTree>
    <p:extLst>
      <p:ext uri="{BB962C8B-B14F-4D97-AF65-F5344CB8AC3E}">
        <p14:creationId xmlns:p14="http://schemas.microsoft.com/office/powerpoint/2010/main" val="1394931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737E3D-6B55-9B43-0D37-76D8D556935F}"/>
              </a:ext>
            </a:extLst>
          </p:cNvPr>
          <p:cNvPicPr>
            <a:picLocks noChangeAspect="1"/>
          </p:cNvPicPr>
          <p:nvPr/>
        </p:nvPicPr>
        <p:blipFill>
          <a:blip r:embed="rId2"/>
          <a:stretch>
            <a:fillRect/>
          </a:stretch>
        </p:blipFill>
        <p:spPr>
          <a:xfrm>
            <a:off x="459698" y="1109272"/>
            <a:ext cx="5636302" cy="5284031"/>
          </a:xfrm>
          <a:prstGeom prst="rect">
            <a:avLst/>
          </a:prstGeom>
        </p:spPr>
      </p:pic>
      <p:sp>
        <p:nvSpPr>
          <p:cNvPr id="4" name="Rectangle: Rounded Corners 3">
            <a:extLst>
              <a:ext uri="{FF2B5EF4-FFF2-40B4-BE49-F238E27FC236}">
                <a16:creationId xmlns:a16="http://schemas.microsoft.com/office/drawing/2014/main" id="{CA71934C-46EB-833C-6C73-4CEB0465CE55}"/>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Retention Trends</a:t>
            </a:r>
          </a:p>
        </p:txBody>
      </p:sp>
      <p:sp>
        <p:nvSpPr>
          <p:cNvPr id="5" name="TextBox 4">
            <a:extLst>
              <a:ext uri="{FF2B5EF4-FFF2-40B4-BE49-F238E27FC236}">
                <a16:creationId xmlns:a16="http://schemas.microsoft.com/office/drawing/2014/main" id="{674326C4-A089-00EB-3772-635EEAD3E9B5}"/>
              </a:ext>
            </a:extLst>
          </p:cNvPr>
          <p:cNvSpPr txBox="1"/>
          <p:nvPr/>
        </p:nvSpPr>
        <p:spPr>
          <a:xfrm>
            <a:off x="6625652" y="1259174"/>
            <a:ext cx="5156617" cy="5078313"/>
          </a:xfrm>
          <a:prstGeom prst="rect">
            <a:avLst/>
          </a:prstGeom>
          <a:noFill/>
        </p:spPr>
        <p:txBody>
          <a:bodyPr wrap="square" rtlCol="0">
            <a:spAutoFit/>
          </a:bodyPr>
          <a:lstStyle/>
          <a:p>
            <a:pPr algn="ctr"/>
            <a:r>
              <a:rPr lang="en-ZA" b="1" dirty="0"/>
              <a:t>Analysis of Chart</a:t>
            </a:r>
          </a:p>
          <a:p>
            <a:endParaRPr lang="en-ZA" dirty="0"/>
          </a:p>
          <a:p>
            <a:endParaRPr lang="en-ZA" dirty="0"/>
          </a:p>
          <a:p>
            <a:r>
              <a:rPr lang="en-ZA" dirty="0"/>
              <a:t>The unsure category having majority unfavourable value ratings is due to the high percentage of ratings between 1.75 and 2.5.</a:t>
            </a:r>
          </a:p>
          <a:p>
            <a:endParaRPr lang="en-ZA" dirty="0"/>
          </a:p>
          <a:p>
            <a:r>
              <a:rPr lang="en-ZA" dirty="0"/>
              <a:t>Most observations in Probably Return is between 3 and 4 indicating that many people are unsure of the quality but still have favourable retention.</a:t>
            </a:r>
          </a:p>
          <a:p>
            <a:endParaRPr lang="en-ZA" dirty="0"/>
          </a:p>
          <a:p>
            <a:r>
              <a:rPr lang="en-ZA" dirty="0"/>
              <a:t>We can conclude that even though people are unsure of quality, they will continue visiting the store until they are sure. </a:t>
            </a:r>
          </a:p>
          <a:p>
            <a:endParaRPr lang="en-ZA" dirty="0"/>
          </a:p>
          <a:p>
            <a:r>
              <a:rPr lang="en-ZA" dirty="0"/>
              <a:t>*</a:t>
            </a:r>
            <a:r>
              <a:rPr lang="en-ZA" i="1" dirty="0"/>
              <a:t>this may indicate that shopping frequency may be a good variable to use to analyse how value ratings change between frequent and infrequent visitors</a:t>
            </a:r>
            <a:r>
              <a:rPr lang="en-ZA" dirty="0"/>
              <a:t>*</a:t>
            </a:r>
          </a:p>
        </p:txBody>
      </p:sp>
    </p:spTree>
    <p:extLst>
      <p:ext uri="{BB962C8B-B14F-4D97-AF65-F5344CB8AC3E}">
        <p14:creationId xmlns:p14="http://schemas.microsoft.com/office/powerpoint/2010/main" val="232432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6089309-8E1B-1138-EB3D-39F18ACE7A36}"/>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Recommendations and Further Steps</a:t>
            </a:r>
          </a:p>
        </p:txBody>
      </p:sp>
      <p:sp>
        <p:nvSpPr>
          <p:cNvPr id="3" name="Rectangle: Rounded Corners 2">
            <a:extLst>
              <a:ext uri="{FF2B5EF4-FFF2-40B4-BE49-F238E27FC236}">
                <a16:creationId xmlns:a16="http://schemas.microsoft.com/office/drawing/2014/main" id="{880DC2F5-F70B-0F40-4286-D918866BBB69}"/>
              </a:ext>
            </a:extLst>
          </p:cNvPr>
          <p:cNvSpPr/>
          <p:nvPr/>
        </p:nvSpPr>
        <p:spPr>
          <a:xfrm>
            <a:off x="584616" y="1094282"/>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Increase Participation for Gen Z and Gen X</a:t>
            </a:r>
          </a:p>
        </p:txBody>
      </p:sp>
      <p:sp>
        <p:nvSpPr>
          <p:cNvPr id="5" name="TextBox 4">
            <a:extLst>
              <a:ext uri="{FF2B5EF4-FFF2-40B4-BE49-F238E27FC236}">
                <a16:creationId xmlns:a16="http://schemas.microsoft.com/office/drawing/2014/main" id="{289C646A-9F1C-E24C-CC7E-422502314962}"/>
              </a:ext>
            </a:extLst>
          </p:cNvPr>
          <p:cNvSpPr txBox="1"/>
          <p:nvPr/>
        </p:nvSpPr>
        <p:spPr>
          <a:xfrm>
            <a:off x="584616" y="1918741"/>
            <a:ext cx="5511384" cy="2862322"/>
          </a:xfrm>
          <a:prstGeom prst="rect">
            <a:avLst/>
          </a:prstGeom>
          <a:noFill/>
        </p:spPr>
        <p:txBody>
          <a:bodyPr wrap="square" rtlCol="0">
            <a:spAutoFit/>
          </a:bodyPr>
          <a:lstStyle/>
          <a:p>
            <a:r>
              <a:rPr lang="en-ZA" dirty="0"/>
              <a:t>Branding which specifically targets Gen Z and Gen X can be  beneficial. </a:t>
            </a:r>
          </a:p>
          <a:p>
            <a:endParaRPr lang="en-ZA" dirty="0"/>
          </a:p>
          <a:p>
            <a:r>
              <a:rPr lang="en-ZA" dirty="0"/>
              <a:t>Analyse most bought products by generation and increase targeted marketing and focused product strategies</a:t>
            </a:r>
          </a:p>
          <a:p>
            <a:endParaRPr lang="en-ZA" dirty="0"/>
          </a:p>
          <a:p>
            <a:r>
              <a:rPr lang="en-ZA" dirty="0"/>
              <a:t>E.g. Stationery is mostly bought by Gen Z so market it with “back to school” or </a:t>
            </a:r>
            <a:r>
              <a:rPr lang="en-ZA" i="1" dirty="0"/>
              <a:t>higher quality products for young professionals.</a:t>
            </a:r>
          </a:p>
        </p:txBody>
      </p:sp>
      <p:sp>
        <p:nvSpPr>
          <p:cNvPr id="6" name="Rectangle: Rounded Corners 5">
            <a:extLst>
              <a:ext uri="{FF2B5EF4-FFF2-40B4-BE49-F238E27FC236}">
                <a16:creationId xmlns:a16="http://schemas.microsoft.com/office/drawing/2014/main" id="{0BFE914B-E9F6-729A-55F4-FE9B3E33DE46}"/>
              </a:ext>
            </a:extLst>
          </p:cNvPr>
          <p:cNvSpPr/>
          <p:nvPr/>
        </p:nvSpPr>
        <p:spPr>
          <a:xfrm>
            <a:off x="584615" y="4853516"/>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Promote the Brand to the Fence Sitters</a:t>
            </a:r>
          </a:p>
        </p:txBody>
      </p:sp>
      <p:sp>
        <p:nvSpPr>
          <p:cNvPr id="7" name="TextBox 6">
            <a:extLst>
              <a:ext uri="{FF2B5EF4-FFF2-40B4-BE49-F238E27FC236}">
                <a16:creationId xmlns:a16="http://schemas.microsoft.com/office/drawing/2014/main" id="{EE8182A2-3970-7436-0D21-8BE10CAE64F5}"/>
              </a:ext>
            </a:extLst>
          </p:cNvPr>
          <p:cNvSpPr txBox="1"/>
          <p:nvPr/>
        </p:nvSpPr>
        <p:spPr>
          <a:xfrm>
            <a:off x="584615" y="5763718"/>
            <a:ext cx="5511383" cy="923330"/>
          </a:xfrm>
          <a:prstGeom prst="rect">
            <a:avLst/>
          </a:prstGeom>
          <a:noFill/>
        </p:spPr>
        <p:txBody>
          <a:bodyPr wrap="square" rtlCol="0">
            <a:spAutoFit/>
          </a:bodyPr>
          <a:lstStyle/>
          <a:p>
            <a:r>
              <a:rPr lang="en-ZA" dirty="0"/>
              <a:t>Most customers are still unsure about brand loyalty and consequently on returning. Provide benefits for brand loyalty thus incentivizing it.</a:t>
            </a:r>
          </a:p>
        </p:txBody>
      </p:sp>
      <p:sp>
        <p:nvSpPr>
          <p:cNvPr id="8" name="Rectangle: Rounded Corners 7">
            <a:extLst>
              <a:ext uri="{FF2B5EF4-FFF2-40B4-BE49-F238E27FC236}">
                <a16:creationId xmlns:a16="http://schemas.microsoft.com/office/drawing/2014/main" id="{7422C1FF-CD9C-782C-2C8B-202823D03D94}"/>
              </a:ext>
            </a:extLst>
          </p:cNvPr>
          <p:cNvSpPr/>
          <p:nvPr/>
        </p:nvSpPr>
        <p:spPr>
          <a:xfrm>
            <a:off x="6270885" y="1094282"/>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Collect and analyse product data</a:t>
            </a:r>
          </a:p>
        </p:txBody>
      </p:sp>
      <p:sp>
        <p:nvSpPr>
          <p:cNvPr id="9" name="TextBox 8">
            <a:extLst>
              <a:ext uri="{FF2B5EF4-FFF2-40B4-BE49-F238E27FC236}">
                <a16:creationId xmlns:a16="http://schemas.microsoft.com/office/drawing/2014/main" id="{DAB1EB34-11CF-1A31-0953-AB54A1203EAE}"/>
              </a:ext>
            </a:extLst>
          </p:cNvPr>
          <p:cNvSpPr txBox="1"/>
          <p:nvPr/>
        </p:nvSpPr>
        <p:spPr>
          <a:xfrm>
            <a:off x="6248399" y="1870422"/>
            <a:ext cx="5511384" cy="2308324"/>
          </a:xfrm>
          <a:prstGeom prst="rect">
            <a:avLst/>
          </a:prstGeom>
          <a:noFill/>
        </p:spPr>
        <p:txBody>
          <a:bodyPr wrap="square" rtlCol="0">
            <a:spAutoFit/>
          </a:bodyPr>
          <a:lstStyle/>
          <a:p>
            <a:r>
              <a:rPr lang="en-ZA" i="1" dirty="0"/>
              <a:t>Determine the impact of products on the value rating. If certain staple products are of a lower perceived value than others, it can weigh down the overall store value rating.</a:t>
            </a:r>
          </a:p>
          <a:p>
            <a:endParaRPr lang="en-ZA" i="1" dirty="0"/>
          </a:p>
          <a:p>
            <a:r>
              <a:rPr lang="en-ZA" i="1" dirty="0"/>
              <a:t>E.g. Cheap feeling packaging for semi-durable goods can make the product “feel cheap” </a:t>
            </a:r>
            <a:r>
              <a:rPr lang="en-ZA" dirty="0"/>
              <a:t>and of lesser value. </a:t>
            </a:r>
            <a:endParaRPr lang="en-ZA" i="1" dirty="0"/>
          </a:p>
        </p:txBody>
      </p:sp>
      <p:sp>
        <p:nvSpPr>
          <p:cNvPr id="10" name="Rectangle: Rounded Corners 9">
            <a:extLst>
              <a:ext uri="{FF2B5EF4-FFF2-40B4-BE49-F238E27FC236}">
                <a16:creationId xmlns:a16="http://schemas.microsoft.com/office/drawing/2014/main" id="{58FAA99E-1705-F1D5-8657-919FAC1D2159}"/>
              </a:ext>
            </a:extLst>
          </p:cNvPr>
          <p:cNvSpPr/>
          <p:nvPr/>
        </p:nvSpPr>
        <p:spPr>
          <a:xfrm>
            <a:off x="6270885" y="4355280"/>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Analyse shopping frequency with product data</a:t>
            </a:r>
          </a:p>
        </p:txBody>
      </p:sp>
      <p:sp>
        <p:nvSpPr>
          <p:cNvPr id="11" name="TextBox 10">
            <a:extLst>
              <a:ext uri="{FF2B5EF4-FFF2-40B4-BE49-F238E27FC236}">
                <a16:creationId xmlns:a16="http://schemas.microsoft.com/office/drawing/2014/main" id="{2AAD94DC-F076-76A2-922C-2E0737F0C322}"/>
              </a:ext>
            </a:extLst>
          </p:cNvPr>
          <p:cNvSpPr txBox="1"/>
          <p:nvPr/>
        </p:nvSpPr>
        <p:spPr>
          <a:xfrm>
            <a:off x="6248399" y="5131420"/>
            <a:ext cx="5511383" cy="1477328"/>
          </a:xfrm>
          <a:prstGeom prst="rect">
            <a:avLst/>
          </a:prstGeom>
          <a:noFill/>
        </p:spPr>
        <p:txBody>
          <a:bodyPr wrap="square" rtlCol="0">
            <a:spAutoFit/>
          </a:bodyPr>
          <a:lstStyle/>
          <a:p>
            <a:r>
              <a:rPr lang="en-ZA" dirty="0"/>
              <a:t>How much a product is bought will change the value rating after the customer refines their opinions on it. Often bought products by recurring customers can indicate if the perceived value changes or remains the same.</a:t>
            </a:r>
          </a:p>
        </p:txBody>
      </p:sp>
    </p:spTree>
    <p:extLst>
      <p:ext uri="{BB962C8B-B14F-4D97-AF65-F5344CB8AC3E}">
        <p14:creationId xmlns:p14="http://schemas.microsoft.com/office/powerpoint/2010/main" val="989865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4017A-CFE2-8F92-3092-DF3226E4D191}"/>
              </a:ext>
            </a:extLst>
          </p:cNvPr>
          <p:cNvSpPr txBox="1"/>
          <p:nvPr/>
        </p:nvSpPr>
        <p:spPr>
          <a:xfrm>
            <a:off x="2158584" y="1341249"/>
            <a:ext cx="7390150" cy="4175502"/>
          </a:xfrm>
          <a:prstGeom prst="rect">
            <a:avLst/>
          </a:prstGeom>
          <a:noFill/>
        </p:spPr>
        <p:txBody>
          <a:bodyPr wrap="square" rtlCol="0">
            <a:spAutoFit/>
          </a:bodyPr>
          <a:lstStyle/>
          <a:p>
            <a:pPr algn="ctr"/>
            <a:r>
              <a:rPr lang="en-ZA" sz="19900" baseline="30000" dirty="0"/>
              <a:t>Thank</a:t>
            </a:r>
          </a:p>
          <a:p>
            <a:pPr algn="ctr"/>
            <a:r>
              <a:rPr lang="en-ZA" sz="19900" baseline="30000" dirty="0"/>
              <a:t>You</a:t>
            </a:r>
          </a:p>
        </p:txBody>
      </p:sp>
    </p:spTree>
    <p:extLst>
      <p:ext uri="{BB962C8B-B14F-4D97-AF65-F5344CB8AC3E}">
        <p14:creationId xmlns:p14="http://schemas.microsoft.com/office/powerpoint/2010/main" val="1432173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411</TotalTime>
  <Words>1011</Words>
  <Application>Microsoft Office PowerPoint</Application>
  <PresentationFormat>Widescreen</PresentationFormat>
  <Paragraphs>163</Paragraphs>
  <Slides>11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Links</vt:lpstr>
      </vt:variant>
      <vt:variant>
        <vt:i4>1</vt:i4>
      </vt:variant>
      <vt:variant>
        <vt:lpstr>Slide Titles</vt:lpstr>
      </vt:variant>
      <vt:variant>
        <vt:i4>11</vt:i4>
      </vt:variant>
    </vt:vector>
  </HeadingPairs>
  <TitlesOfParts>
    <vt:vector size="17" baseType="lpstr">
      <vt:lpstr>Aptos</vt:lpstr>
      <vt:lpstr>Aptos Display</vt:lpstr>
      <vt:lpstr>Arial</vt:lpstr>
      <vt:lpstr>Cambria Math</vt:lpstr>
      <vt:lpstr>Office Theme</vt:lpstr>
      <vt:lpstr>C:\Users\alexa\OneDrive\Documents\EDAB2714\Assignment 3\Sankey.html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Leak</dc:creator>
  <cp:lastModifiedBy>Alexander Leak</cp:lastModifiedBy>
  <cp:revision>1</cp:revision>
  <dcterms:created xsi:type="dcterms:W3CDTF">2025-04-30T14:30:14Z</dcterms:created>
  <dcterms:modified xsi:type="dcterms:W3CDTF">2025-04-30T21:22:00Z</dcterms:modified>
</cp:coreProperties>
</file>